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webextensions/webextension1.xml" ContentType="application/vnd.ms-office.webextension+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60" r:id="rId4"/>
    <p:sldId id="262" r:id="rId5"/>
    <p:sldId id="263" r:id="rId6"/>
    <p:sldId id="264" r:id="rId7"/>
    <p:sldId id="276" r:id="rId8"/>
    <p:sldId id="277" r:id="rId9"/>
    <p:sldId id="279" r:id="rId10"/>
    <p:sldId id="267" r:id="rId11"/>
    <p:sldId id="280" r:id="rId12"/>
    <p:sldId id="281" r:id="rId13"/>
    <p:sldId id="259" r:id="rId14"/>
  </p:sldIdLst>
  <p:sldSz cx="12192000" cy="6858000"/>
  <p:notesSz cx="6858000" cy="9144000"/>
  <p:embeddedFontLst>
    <p:embeddedFont>
      <p:font typeface="Lato Black" panose="020F0502020204030203" pitchFamily="34" charset="0"/>
      <p:bold r:id="rId16"/>
      <p:boldItalic r:id="rId17"/>
    </p:embeddedFont>
    <p:embeddedFont>
      <p:font typeface="Libre Baskerville" panose="02000000000000000000" pitchFamily="2" charset="0"/>
      <p:regular r:id="rId18"/>
      <p:bold r:id="rId19"/>
      <p: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8235" autoAdjust="0"/>
  </p:normalViewPr>
  <p:slideViewPr>
    <p:cSldViewPr snapToGrid="0">
      <p:cViewPr varScale="1">
        <p:scale>
          <a:sx n="69" d="100"/>
          <a:sy n="69" d="100"/>
        </p:scale>
        <p:origin x="1147" y="72"/>
      </p:cViewPr>
      <p:guideLst/>
    </p:cSldViewPr>
  </p:slideViewPr>
  <p:notesTextViewPr>
    <p:cViewPr>
      <p:scale>
        <a:sx n="1" d="1"/>
        <a:sy n="1" d="1"/>
      </p:scale>
      <p:origin x="0" y="0"/>
    </p:cViewPr>
  </p:notesTextViewPr>
  <p:sorterViewPr>
    <p:cViewPr>
      <p:scale>
        <a:sx n="100" d="100"/>
        <a:sy n="100" d="100"/>
      </p:scale>
      <p:origin x="0" y="-62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47201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linkedin.com/in/kushal-manduri"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kushal1989"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1/relationships/webextension" Target="../webextensions/webextension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9489"/>
            <a:ext cx="12190815" cy="6867489"/>
          </a:xfrm>
          <a:prstGeom prst="rect">
            <a:avLst/>
          </a:prstGeom>
          <a:noFill/>
          <a:ln>
            <a:noFill/>
          </a:ln>
        </p:spPr>
      </p:pic>
      <p:sp>
        <p:nvSpPr>
          <p:cNvPr id="5" name="TextBox 4">
            <a:extLst>
              <a:ext uri="{FF2B5EF4-FFF2-40B4-BE49-F238E27FC236}">
                <a16:creationId xmlns:a16="http://schemas.microsoft.com/office/drawing/2014/main" id="{E479776B-58C0-281F-9C3E-56D8D174F90C}"/>
              </a:ext>
            </a:extLst>
          </p:cNvPr>
          <p:cNvSpPr txBox="1"/>
          <p:nvPr/>
        </p:nvSpPr>
        <p:spPr>
          <a:xfrm>
            <a:off x="8076657" y="5457323"/>
            <a:ext cx="3284874" cy="1015663"/>
          </a:xfrm>
          <a:prstGeom prst="rect">
            <a:avLst/>
          </a:prstGeom>
          <a:noFill/>
        </p:spPr>
        <p:txBody>
          <a:bodyPr wrap="none" rtlCol="0">
            <a:spAutoFit/>
          </a:bodyPr>
          <a:lstStyle/>
          <a:p>
            <a:r>
              <a:rPr 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Presented By:</a:t>
            </a:r>
          </a:p>
          <a:p>
            <a:r>
              <a:rPr lang="en-US" sz="2000" dirty="0">
                <a:latin typeface="Calibri" panose="020F0502020204030204" pitchFamily="34" charset="0"/>
                <a:ea typeface="Calibri" panose="020F0502020204030204" pitchFamily="34" charset="0"/>
                <a:cs typeface="Calibri" panose="020F0502020204030204" pitchFamily="34" charset="0"/>
              </a:rPr>
              <a:t>M. Kushal Virendra Chowdary</a:t>
            </a:r>
          </a:p>
          <a:p>
            <a:r>
              <a:rPr lang="en-US" sz="2000" dirty="0">
                <a:latin typeface="Calibri" panose="020F0502020204030204" pitchFamily="34" charset="0"/>
                <a:ea typeface="Calibri" panose="020F0502020204030204" pitchFamily="34" charset="0"/>
                <a:cs typeface="Calibri" panose="020F0502020204030204" pitchFamily="34" charset="0"/>
              </a:rPr>
              <a:t>Batch No: 436</a:t>
            </a:r>
          </a:p>
        </p:txBody>
      </p:sp>
      <p:sp>
        <p:nvSpPr>
          <p:cNvPr id="3" name="TextBox 2">
            <a:extLst>
              <a:ext uri="{FF2B5EF4-FFF2-40B4-BE49-F238E27FC236}">
                <a16:creationId xmlns:a16="http://schemas.microsoft.com/office/drawing/2014/main" id="{26162140-D79C-C4FE-08F9-FE29695A2F11}"/>
              </a:ext>
            </a:extLst>
          </p:cNvPr>
          <p:cNvSpPr txBox="1"/>
          <p:nvPr/>
        </p:nvSpPr>
        <p:spPr>
          <a:xfrm>
            <a:off x="3105437" y="4070195"/>
            <a:ext cx="5737468" cy="630942"/>
          </a:xfrm>
          <a:prstGeom prst="rect">
            <a:avLst/>
          </a:prstGeom>
          <a:noFill/>
        </p:spPr>
        <p:txBody>
          <a:bodyPr wrap="none" rtlCol="0">
            <a:spAutoFit/>
          </a:bodyPr>
          <a:lstStyle/>
          <a:p>
            <a:r>
              <a:rPr lang="en-US" sz="3500" b="1" dirty="0">
                <a:latin typeface="Aptos" panose="020B0004020202020204" pitchFamily="34" charset="0"/>
                <a:ea typeface="Calibri" panose="020F0502020204030204" pitchFamily="34" charset="0"/>
                <a:cs typeface="Calibri" panose="020F0502020204030204" pitchFamily="34" charset="0"/>
              </a:rPr>
              <a:t>Global EV Sales 2010 - 2024</a:t>
            </a:r>
            <a:endParaRPr lang="en-IN" sz="3500" b="1" dirty="0">
              <a:latin typeface="Aptos" panose="020B000402020202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2" y="1299172"/>
            <a:ext cx="10855474" cy="2492950"/>
          </a:xfrm>
          <a:prstGeom prst="rect">
            <a:avLst/>
          </a:prstGeom>
          <a:noFill/>
          <a:ln>
            <a:noFill/>
          </a:ln>
        </p:spPr>
        <p:txBody>
          <a:bodyPr spcFirstLastPara="1" wrap="square" lIns="91425" tIns="45700" rIns="91425" bIns="45700" anchor="t" anchorCtr="0">
            <a:spAutoFit/>
          </a:bodyPr>
          <a:lstStyle/>
          <a:p>
            <a:pPr marL="285750" lvl="0" indent="-323850">
              <a:buClr>
                <a:schemeClr val="dk1"/>
              </a:buClr>
              <a:buSzPts val="2400"/>
              <a:buFont typeface="Arial"/>
              <a:buChar char="•"/>
            </a:pPr>
            <a:r>
              <a:rPr lang="en-US" sz="2500" dirty="0">
                <a:latin typeface="Calibri" panose="020F0502020204030204" pitchFamily="34" charset="0"/>
                <a:ea typeface="Calibri" panose="020F0502020204030204" pitchFamily="34" charset="0"/>
                <a:cs typeface="Calibri" panose="020F0502020204030204" pitchFamily="34" charset="0"/>
              </a:rPr>
              <a:t>I am a recent </a:t>
            </a:r>
            <a:r>
              <a:rPr lang="en-US" sz="2500" dirty="0" err="1">
                <a:latin typeface="Calibri" panose="020F0502020204030204" pitchFamily="34" charset="0"/>
                <a:ea typeface="Calibri" panose="020F0502020204030204" pitchFamily="34" charset="0"/>
                <a:cs typeface="Calibri" panose="020F0502020204030204" pitchFamily="34" charset="0"/>
              </a:rPr>
              <a:t>B.Tech</a:t>
            </a:r>
            <a:r>
              <a:rPr lang="en-US" sz="2500" dirty="0">
                <a:latin typeface="Calibri" panose="020F0502020204030204" pitchFamily="34" charset="0"/>
                <a:ea typeface="Calibri" panose="020F0502020204030204" pitchFamily="34" charset="0"/>
                <a:cs typeface="Calibri" panose="020F0502020204030204" pitchFamily="34" charset="0"/>
              </a:rPr>
              <a:t> graduate in Artificial Intelligence and Data Science from Vignan Institute of Technology and Science.</a:t>
            </a:r>
          </a:p>
          <a:p>
            <a:pPr marL="285750" lvl="0" indent="-323850">
              <a:buClr>
                <a:schemeClr val="dk1"/>
              </a:buClr>
              <a:buSzPts val="2400"/>
              <a:buFont typeface="Arial"/>
              <a:buChar char="•"/>
            </a:pPr>
            <a:r>
              <a:rPr lang="en-US" sz="2500" dirty="0">
                <a:latin typeface="Calibri" panose="020F0502020204030204" pitchFamily="34" charset="0"/>
                <a:ea typeface="Calibri" panose="020F0502020204030204" pitchFamily="34" charset="0"/>
                <a:cs typeface="Calibri" panose="020F0502020204030204" pitchFamily="34" charset="0"/>
              </a:rPr>
              <a:t>As an AI &amp; DS student, I have the passion and interest to learn Data Science and apply it to solve real-world problems</a:t>
            </a:r>
            <a:endParaRPr sz="250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323850">
              <a:buClr>
                <a:schemeClr val="dk1"/>
              </a:buClr>
              <a:buSzPts val="2400"/>
              <a:buFont typeface="Calibri"/>
              <a:buChar char="•"/>
            </a:pPr>
            <a:r>
              <a:rPr lang="en-IN" sz="2500" b="1" dirty="0">
                <a:latin typeface="Calibri" panose="020F0502020204030204" pitchFamily="34" charset="0"/>
                <a:ea typeface="Calibri" panose="020F0502020204030204" pitchFamily="34" charset="0"/>
                <a:cs typeface="Calibri" panose="020F0502020204030204" pitchFamily="34" charset="0"/>
              </a:rPr>
              <a:t>LinkedIn -</a:t>
            </a:r>
            <a:r>
              <a:rPr lang="en-IN" sz="2500" dirty="0">
                <a:latin typeface="Calibri" panose="020F0502020204030204" pitchFamily="34" charset="0"/>
                <a:ea typeface="Calibri" panose="020F0502020204030204" pitchFamily="34" charset="0"/>
                <a:cs typeface="Calibri" panose="020F0502020204030204" pitchFamily="34" charset="0"/>
              </a:rPr>
              <a:t> </a:t>
            </a:r>
            <a:r>
              <a:rPr lang="en-IN" sz="2500" dirty="0">
                <a:latin typeface="Calibri" panose="020F0502020204030204" pitchFamily="34" charset="0"/>
                <a:ea typeface="Calibri" panose="020F0502020204030204" pitchFamily="34" charset="0"/>
                <a:cs typeface="Calibri" panose="020F0502020204030204" pitchFamily="34" charset="0"/>
                <a:hlinkClick r:id="rId3" tooltip="https://linkedin.com/in/kushal-manduri"/>
              </a:rPr>
              <a:t>https://linkedin.com/in/kushal-manduri</a:t>
            </a:r>
            <a:r>
              <a:rPr lang="en-IN" sz="2500" dirty="0">
                <a:latin typeface="Calibri" panose="020F0502020204030204" pitchFamily="34" charset="0"/>
                <a:ea typeface="Calibri" panose="020F0502020204030204" pitchFamily="34" charset="0"/>
                <a:cs typeface="Calibri" panose="020F0502020204030204" pitchFamily="34" charset="0"/>
              </a:rPr>
              <a:t> </a:t>
            </a:r>
          </a:p>
          <a:p>
            <a:pPr marL="285750" lvl="0" indent="-323850">
              <a:buClr>
                <a:schemeClr val="dk1"/>
              </a:buClr>
              <a:buSzPts val="2400"/>
              <a:buFont typeface="Calibri"/>
              <a:buChar char="•"/>
            </a:pPr>
            <a:r>
              <a:rPr lang="en-IN" sz="2500" b="1" dirty="0">
                <a:latin typeface="Calibri" panose="020F0502020204030204" pitchFamily="34" charset="0"/>
                <a:ea typeface="Calibri" panose="020F0502020204030204" pitchFamily="34" charset="0"/>
                <a:cs typeface="Calibri" panose="020F0502020204030204" pitchFamily="34" charset="0"/>
              </a:rPr>
              <a:t>GitHub -</a:t>
            </a:r>
            <a:r>
              <a:rPr lang="en-IN" sz="2500" dirty="0">
                <a:latin typeface="Calibri" panose="020F0502020204030204" pitchFamily="34" charset="0"/>
                <a:ea typeface="Calibri" panose="020F0502020204030204" pitchFamily="34" charset="0"/>
                <a:cs typeface="Calibri" panose="020F0502020204030204" pitchFamily="34" charset="0"/>
              </a:rPr>
              <a:t> </a:t>
            </a:r>
            <a:r>
              <a:rPr lang="en-IN" sz="2500" dirty="0">
                <a:latin typeface="Calibri" panose="020F0502020204030204" pitchFamily="34" charset="0"/>
                <a:ea typeface="Calibri" panose="020F0502020204030204" pitchFamily="34" charset="0"/>
                <a:cs typeface="Calibri" panose="020F0502020204030204" pitchFamily="34" charset="0"/>
                <a:hlinkClick r:id="rId4" tooltip="https://github.com/kushal1989"/>
              </a:rPr>
              <a:t>https://github.com/kushal1989</a:t>
            </a:r>
            <a:endParaRPr sz="25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05" name="Google Shape;105;p3"/>
          <p:cNvSpPr txBox="1"/>
          <p:nvPr/>
        </p:nvSpPr>
        <p:spPr>
          <a:xfrm>
            <a:off x="427656" y="416554"/>
            <a:ext cx="6099463" cy="52318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500" b="1" i="0" u="none" strike="noStrike" cap="none" dirty="0">
                <a:solidFill>
                  <a:srgbClr val="FF0000"/>
                </a:solidFill>
                <a:latin typeface="Aptos Display" panose="020B0004020202020204" pitchFamily="34" charset="0"/>
                <a:ea typeface="Calibri" panose="020F0502020204030204" pitchFamily="34" charset="0"/>
                <a:cs typeface="Calibri" panose="020F0502020204030204" pitchFamily="34" charset="0"/>
                <a:sym typeface="Lato Black"/>
              </a:rPr>
              <a:t>About me</a:t>
            </a:r>
            <a:endParaRPr sz="3500" b="1" i="0" u="none" strike="noStrike" cap="none" dirty="0">
              <a:solidFill>
                <a:srgbClr val="FF0000"/>
              </a:solidFill>
              <a:latin typeface="Aptos Display" panose="020B0004020202020204" pitchFamily="34" charset="0"/>
              <a:ea typeface="Calibri" panose="020F0502020204030204" pitchFamily="34" charset="0"/>
              <a:cs typeface="Calibri" panose="020F0502020204030204" pitchFamily="34"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F79D4A7-4E31-A91F-6CC1-7B4D63F1EDB6}"/>
              </a:ext>
            </a:extLst>
          </p:cNvPr>
          <p:cNvPicPr>
            <a:picLocks noChangeAspect="1"/>
          </p:cNvPicPr>
          <p:nvPr/>
        </p:nvPicPr>
        <p:blipFill>
          <a:blip r:embed="rId2"/>
          <a:stretch>
            <a:fillRect/>
          </a:stretch>
        </p:blipFill>
        <p:spPr>
          <a:xfrm>
            <a:off x="0" y="194153"/>
            <a:ext cx="2743200" cy="1143791"/>
          </a:xfrm>
          <a:prstGeom prst="rect">
            <a:avLst/>
          </a:prstGeom>
        </p:spPr>
      </p:pic>
      <p:pic>
        <p:nvPicPr>
          <p:cNvPr id="7" name="Picture 6">
            <a:extLst>
              <a:ext uri="{FF2B5EF4-FFF2-40B4-BE49-F238E27FC236}">
                <a16:creationId xmlns:a16="http://schemas.microsoft.com/office/drawing/2014/main" id="{01B951F8-1780-0FE8-8A29-2B4CCB508500}"/>
              </a:ext>
            </a:extLst>
          </p:cNvPr>
          <p:cNvPicPr>
            <a:picLocks noChangeAspect="1"/>
          </p:cNvPicPr>
          <p:nvPr/>
        </p:nvPicPr>
        <p:blipFill>
          <a:blip r:embed="rId2"/>
          <a:stretch>
            <a:fillRect/>
          </a:stretch>
        </p:blipFill>
        <p:spPr>
          <a:xfrm>
            <a:off x="4755254" y="5111529"/>
            <a:ext cx="1543265" cy="990095"/>
          </a:xfrm>
          <a:prstGeom prst="rect">
            <a:avLst/>
          </a:prstGeom>
        </p:spPr>
      </p:pic>
      <p:sp>
        <p:nvSpPr>
          <p:cNvPr id="4" name="Google Shape;105;p3">
            <a:extLst>
              <a:ext uri="{FF2B5EF4-FFF2-40B4-BE49-F238E27FC236}">
                <a16:creationId xmlns:a16="http://schemas.microsoft.com/office/drawing/2014/main" id="{EC4C12D8-593E-92EF-861E-AB6C78FE214C}"/>
              </a:ext>
            </a:extLst>
          </p:cNvPr>
          <p:cNvSpPr txBox="1"/>
          <p:nvPr/>
        </p:nvSpPr>
        <p:spPr>
          <a:xfrm>
            <a:off x="199056" y="253269"/>
            <a:ext cx="6099463" cy="52318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US" sz="3500" b="1"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Calibri"/>
              </a:rPr>
              <a:t>Table of Contents</a:t>
            </a:r>
            <a:endParaRPr sz="3500" b="1" i="0" u="none"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 name="Rectangle 2">
            <a:extLst>
              <a:ext uri="{FF2B5EF4-FFF2-40B4-BE49-F238E27FC236}">
                <a16:creationId xmlns:a16="http://schemas.microsoft.com/office/drawing/2014/main" id="{1EED3CD3-000D-E252-D9A7-3E4B3854BB71}"/>
              </a:ext>
            </a:extLst>
          </p:cNvPr>
          <p:cNvSpPr>
            <a:spLocks noChangeArrowheads="1"/>
          </p:cNvSpPr>
          <p:nvPr/>
        </p:nvSpPr>
        <p:spPr bwMode="auto">
          <a:xfrm rot="10800000" flipV="1">
            <a:off x="6096000" y="1636258"/>
            <a:ext cx="575056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Problem statement</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Objectives of the Project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Understanding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Preparation &amp; Steps Followed</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DAX Measures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Final Dashboard Preview</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Business Insights &amp; Report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Challenges Faced</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Conclusion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Q&amp;A</a:t>
            </a:r>
          </a:p>
        </p:txBody>
      </p:sp>
      <p:pic>
        <p:nvPicPr>
          <p:cNvPr id="10" name="Picture 9">
            <a:extLst>
              <a:ext uri="{FF2B5EF4-FFF2-40B4-BE49-F238E27FC236}">
                <a16:creationId xmlns:a16="http://schemas.microsoft.com/office/drawing/2014/main" id="{1B3F75C5-E2DE-399B-0624-CB223241B32A}"/>
              </a:ext>
            </a:extLst>
          </p:cNvPr>
          <p:cNvPicPr>
            <a:picLocks noChangeAspect="1"/>
          </p:cNvPicPr>
          <p:nvPr/>
        </p:nvPicPr>
        <p:blipFill>
          <a:blip r:embed="rId3"/>
          <a:stretch>
            <a:fillRect/>
          </a:stretch>
        </p:blipFill>
        <p:spPr>
          <a:xfrm>
            <a:off x="136983" y="664155"/>
            <a:ext cx="5640328" cy="5729858"/>
          </a:xfrm>
          <a:prstGeom prst="rect">
            <a:avLst/>
          </a:prstGeom>
        </p:spPr>
      </p:pic>
    </p:spTree>
    <p:extLst>
      <p:ext uri="{BB962C8B-B14F-4D97-AF65-F5344CB8AC3E}">
        <p14:creationId xmlns:p14="http://schemas.microsoft.com/office/powerpoint/2010/main" val="75011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05;p3">
            <a:extLst>
              <a:ext uri="{FF2B5EF4-FFF2-40B4-BE49-F238E27FC236}">
                <a16:creationId xmlns:a16="http://schemas.microsoft.com/office/drawing/2014/main" id="{9A3B5CDB-0DEE-8E76-4B13-309D6BBDCEC1}"/>
              </a:ext>
            </a:extLst>
          </p:cNvPr>
          <p:cNvSpPr txBox="1"/>
          <p:nvPr/>
        </p:nvSpPr>
        <p:spPr>
          <a:xfrm>
            <a:off x="111760" y="101600"/>
            <a:ext cx="4108784" cy="630902"/>
          </a:xfrm>
          <a:prstGeom prst="rect">
            <a:avLst/>
          </a:prstGeom>
          <a:noFill/>
          <a:ln>
            <a:noFill/>
          </a:ln>
        </p:spPr>
        <p:txBody>
          <a:bodyPr spcFirstLastPara="1" wrap="square" lIns="91425" tIns="45700" rIns="91425" bIns="45700" anchor="t" anchorCtr="0">
            <a:spAutoFit/>
          </a:bodyPr>
          <a:lstStyle/>
          <a:p>
            <a:pPr eaLnBrk="0" fontAlgn="base" hangingPunct="0"/>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Problem statement</a:t>
            </a:r>
          </a:p>
        </p:txBody>
      </p:sp>
      <p:sp>
        <p:nvSpPr>
          <p:cNvPr id="2" name="TextBox 1">
            <a:extLst>
              <a:ext uri="{FF2B5EF4-FFF2-40B4-BE49-F238E27FC236}">
                <a16:creationId xmlns:a16="http://schemas.microsoft.com/office/drawing/2014/main" id="{0995A1D6-C38B-B984-B81A-B28B2175B366}"/>
              </a:ext>
            </a:extLst>
          </p:cNvPr>
          <p:cNvSpPr txBox="1"/>
          <p:nvPr/>
        </p:nvSpPr>
        <p:spPr>
          <a:xfrm>
            <a:off x="249043" y="912991"/>
            <a:ext cx="10730850" cy="5016758"/>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t>The global shift toward electric vehicles (EVs) is accelerating, but adoption patterns vary widely across regions, vehicle categories, powertrain technologies, and economic groups.</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Businesses, policymakers, and mobility planners lack unified visibility into where EV growth is strongest, which technologies are leading, how infrastructure is scaling, and what future demand may look like.</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Without these insights, it becomes difficult to make </a:t>
            </a:r>
          </a:p>
          <a:p>
            <a:r>
              <a:rPr lang="en-US" sz="2000" dirty="0"/>
              <a:t>     informed decisions about:</a:t>
            </a:r>
          </a:p>
          <a:p>
            <a:pPr marL="803275" lvl="4" indent="-446088"/>
            <a:r>
              <a:rPr lang="en-US" sz="2000" dirty="0"/>
              <a:t>Market expansion strategies</a:t>
            </a:r>
          </a:p>
          <a:p>
            <a:pPr marL="803275" lvl="4" indent="-446088"/>
            <a:r>
              <a:rPr lang="en-US" sz="2000" dirty="0"/>
              <a:t>Investment in charging infrastructure</a:t>
            </a:r>
          </a:p>
          <a:p>
            <a:pPr marL="803275" lvl="4" indent="-446088"/>
            <a:r>
              <a:rPr lang="en-US" sz="2000" dirty="0"/>
              <a:t>Powertrain development priorities</a:t>
            </a:r>
          </a:p>
          <a:p>
            <a:pPr marL="803275" lvl="4" indent="-446088"/>
            <a:r>
              <a:rPr lang="en-US" sz="2000" dirty="0"/>
              <a:t>Policy planning and sustainability goals</a:t>
            </a:r>
          </a:p>
          <a:p>
            <a:endParaRPr lang="en-IN" sz="2000" dirty="0"/>
          </a:p>
        </p:txBody>
      </p:sp>
      <p:pic>
        <p:nvPicPr>
          <p:cNvPr id="7" name="Picture 6">
            <a:extLst>
              <a:ext uri="{FF2B5EF4-FFF2-40B4-BE49-F238E27FC236}">
                <a16:creationId xmlns:a16="http://schemas.microsoft.com/office/drawing/2014/main" id="{C894183E-1CD5-C9FA-373C-D90B039F5C87}"/>
              </a:ext>
            </a:extLst>
          </p:cNvPr>
          <p:cNvPicPr>
            <a:picLocks noChangeAspect="1"/>
          </p:cNvPicPr>
          <p:nvPr/>
        </p:nvPicPr>
        <p:blipFill>
          <a:blip r:embed="rId2"/>
          <a:stretch>
            <a:fillRect/>
          </a:stretch>
        </p:blipFill>
        <p:spPr>
          <a:xfrm>
            <a:off x="6950927" y="3083312"/>
            <a:ext cx="4847063" cy="2646004"/>
          </a:xfrm>
          <a:prstGeom prst="rect">
            <a:avLst/>
          </a:prstGeom>
        </p:spPr>
      </p:pic>
    </p:spTree>
    <p:extLst>
      <p:ext uri="{BB962C8B-B14F-4D97-AF65-F5344CB8AC3E}">
        <p14:creationId xmlns:p14="http://schemas.microsoft.com/office/powerpoint/2010/main" val="3203401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5;p3">
            <a:extLst>
              <a:ext uri="{FF2B5EF4-FFF2-40B4-BE49-F238E27FC236}">
                <a16:creationId xmlns:a16="http://schemas.microsoft.com/office/drawing/2014/main" id="{4A1C5379-92D0-9597-E072-717BEB093759}"/>
              </a:ext>
            </a:extLst>
          </p:cNvPr>
          <p:cNvSpPr txBox="1"/>
          <p:nvPr/>
        </p:nvSpPr>
        <p:spPr>
          <a:xfrm>
            <a:off x="71120" y="91440"/>
            <a:ext cx="8172784" cy="646290"/>
          </a:xfrm>
          <a:prstGeom prst="rect">
            <a:avLst/>
          </a:prstGeom>
          <a:noFill/>
          <a:ln>
            <a:noFill/>
          </a:ln>
        </p:spPr>
        <p:txBody>
          <a:bodyPr spcFirstLastPara="1" wrap="square" lIns="91425" tIns="45700" rIns="91425" bIns="45700" anchor="t" anchorCtr="0">
            <a:spAutoFit/>
          </a:bodyPr>
          <a:lstStyle/>
          <a:p>
            <a:pPr eaLnBrk="0" fontAlgn="base" hangingPunct="0"/>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Objectives of the Project</a:t>
            </a:r>
          </a:p>
        </p:txBody>
      </p:sp>
      <p:pic>
        <p:nvPicPr>
          <p:cNvPr id="10" name="Picture 9">
            <a:extLst>
              <a:ext uri="{FF2B5EF4-FFF2-40B4-BE49-F238E27FC236}">
                <a16:creationId xmlns:a16="http://schemas.microsoft.com/office/drawing/2014/main" id="{BCA31381-511F-4ECD-9FDC-F6AD69C9F592}"/>
              </a:ext>
            </a:extLst>
          </p:cNvPr>
          <p:cNvPicPr>
            <a:picLocks noChangeAspect="1"/>
          </p:cNvPicPr>
          <p:nvPr/>
        </p:nvPicPr>
        <p:blipFill>
          <a:blip r:embed="rId2"/>
          <a:stretch>
            <a:fillRect/>
          </a:stretch>
        </p:blipFill>
        <p:spPr>
          <a:xfrm>
            <a:off x="1602739" y="5332730"/>
            <a:ext cx="1943101" cy="560070"/>
          </a:xfrm>
          <a:prstGeom prst="rect">
            <a:avLst/>
          </a:prstGeom>
        </p:spPr>
      </p:pic>
      <p:sp>
        <p:nvSpPr>
          <p:cNvPr id="2" name="TextBox 1">
            <a:extLst>
              <a:ext uri="{FF2B5EF4-FFF2-40B4-BE49-F238E27FC236}">
                <a16:creationId xmlns:a16="http://schemas.microsoft.com/office/drawing/2014/main" id="{8AADC340-7A53-2999-6687-D1C00E5774B3}"/>
              </a:ext>
            </a:extLst>
          </p:cNvPr>
          <p:cNvSpPr txBox="1"/>
          <p:nvPr/>
        </p:nvSpPr>
        <p:spPr>
          <a:xfrm>
            <a:off x="1052517" y="1295982"/>
            <a:ext cx="10256148" cy="3477875"/>
          </a:xfrm>
          <a:prstGeom prst="rect">
            <a:avLst/>
          </a:prstGeom>
          <a:noFill/>
        </p:spPr>
        <p:txBody>
          <a:bodyPr wrap="square" rtlCol="0">
            <a:spAutoFit/>
          </a:bodyPr>
          <a:lstStyle/>
          <a:p>
            <a:r>
              <a:rPr lang="en-US" sz="2000" dirty="0"/>
              <a:t>The objective of this project is to analyze global Electric Vehicle (EV) adoption trends from 2010–2024 and provide data-driven insights that support strategic decision-making for businesses, policymakers, and mobility planners. Specifically, the project aims to:</a:t>
            </a:r>
          </a:p>
          <a:p>
            <a:endParaRPr lang="en-US" sz="2000" b="1" dirty="0"/>
          </a:p>
          <a:p>
            <a:r>
              <a:rPr lang="en-US" sz="2000" dirty="0"/>
              <a:t>1. Identify regional differences in EV adoption</a:t>
            </a:r>
          </a:p>
          <a:p>
            <a:r>
              <a:rPr lang="en-US" sz="2000" dirty="0"/>
              <a:t>2. Analyze EV growth across vehicle categories and transport modes</a:t>
            </a:r>
          </a:p>
          <a:p>
            <a:r>
              <a:rPr lang="en-US" sz="2000" dirty="0"/>
              <a:t>3. Compare powertrain adoption trends</a:t>
            </a:r>
          </a:p>
          <a:p>
            <a:r>
              <a:rPr lang="en-US" sz="2000" dirty="0"/>
              <a:t>4. Evaluate key EV-related performance parameters</a:t>
            </a:r>
          </a:p>
          <a:p>
            <a:r>
              <a:rPr lang="en-US" sz="2000" dirty="0"/>
              <a:t>5. Perform time-series and year-over-year trend analysis</a:t>
            </a:r>
          </a:p>
          <a:p>
            <a:r>
              <a:rPr lang="en-US" sz="2000" dirty="0"/>
              <a:t>6. Provide actionable insights for strategic planning</a:t>
            </a:r>
          </a:p>
          <a:p>
            <a:endParaRPr lang="en-IN" sz="2000" dirty="0"/>
          </a:p>
        </p:txBody>
      </p:sp>
    </p:spTree>
    <p:extLst>
      <p:ext uri="{BB962C8B-B14F-4D97-AF65-F5344CB8AC3E}">
        <p14:creationId xmlns:p14="http://schemas.microsoft.com/office/powerpoint/2010/main" val="370873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C41ADAB8-A733-9C1E-AB34-71FA11BBAB62}"/>
              </a:ext>
            </a:extLst>
          </p:cNvPr>
          <p:cNvPicPr>
            <a:picLocks noChangeAspect="1"/>
          </p:cNvPicPr>
          <p:nvPr/>
        </p:nvPicPr>
        <p:blipFill>
          <a:blip r:embed="rId3"/>
          <a:stretch>
            <a:fillRect/>
          </a:stretch>
        </p:blipFill>
        <p:spPr>
          <a:xfrm>
            <a:off x="6329045" y="6043545"/>
            <a:ext cx="1543050" cy="314370"/>
          </a:xfrm>
          <a:prstGeom prst="rect">
            <a:avLst/>
          </a:prstGeom>
        </p:spPr>
      </p:pic>
      <p:pic>
        <p:nvPicPr>
          <p:cNvPr id="6" name="Picture 5">
            <a:extLst>
              <a:ext uri="{FF2B5EF4-FFF2-40B4-BE49-F238E27FC236}">
                <a16:creationId xmlns:a16="http://schemas.microsoft.com/office/drawing/2014/main" id="{C1F7C4F1-2665-B2D1-EF13-0E53DAD8387D}"/>
              </a:ext>
            </a:extLst>
          </p:cNvPr>
          <p:cNvPicPr>
            <a:picLocks noChangeAspect="1"/>
          </p:cNvPicPr>
          <p:nvPr/>
        </p:nvPicPr>
        <p:blipFill>
          <a:blip r:embed="rId4"/>
          <a:stretch>
            <a:fillRect/>
          </a:stretch>
        </p:blipFill>
        <p:spPr>
          <a:xfrm>
            <a:off x="9797174" y="5931066"/>
            <a:ext cx="1724266" cy="314369"/>
          </a:xfrm>
          <a:prstGeom prst="rect">
            <a:avLst/>
          </a:prstGeom>
        </p:spPr>
      </p:pic>
      <p:sp>
        <p:nvSpPr>
          <p:cNvPr id="2" name="Google Shape;105;p3">
            <a:extLst>
              <a:ext uri="{FF2B5EF4-FFF2-40B4-BE49-F238E27FC236}">
                <a16:creationId xmlns:a16="http://schemas.microsoft.com/office/drawing/2014/main" id="{99997CBC-90A7-B9B7-0166-3A559EC8D0A5}"/>
              </a:ext>
            </a:extLst>
          </p:cNvPr>
          <p:cNvSpPr txBox="1"/>
          <p:nvPr/>
        </p:nvSpPr>
        <p:spPr>
          <a:xfrm>
            <a:off x="71120" y="91440"/>
            <a:ext cx="3943319" cy="646290"/>
          </a:xfrm>
          <a:prstGeom prst="rect">
            <a:avLst/>
          </a:prstGeom>
          <a:noFill/>
          <a:ln>
            <a:noFill/>
          </a:ln>
        </p:spPr>
        <p:txBody>
          <a:bodyPr spcFirstLastPara="1" wrap="square" lIns="91425" tIns="45700" rIns="91425" bIns="45700" anchor="t" anchorCtr="0">
            <a:spAutoFit/>
          </a:bodyPr>
          <a:lstStyle/>
          <a:p>
            <a:pPr lvl="0" eaLnBrk="0" fontAlgn="base" hangingPunct="0">
              <a:spcBef>
                <a:spcPct val="0"/>
              </a:spcBef>
              <a:spcAft>
                <a:spcPct val="0"/>
              </a:spcAft>
              <a:buClrTx/>
            </a:pPr>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Data Understanding</a:t>
            </a:r>
          </a:p>
        </p:txBody>
      </p:sp>
      <p:graphicFrame>
        <p:nvGraphicFramePr>
          <p:cNvPr id="4" name="Table 3">
            <a:extLst>
              <a:ext uri="{FF2B5EF4-FFF2-40B4-BE49-F238E27FC236}">
                <a16:creationId xmlns:a16="http://schemas.microsoft.com/office/drawing/2014/main" id="{36EFAC6F-FCBC-2E88-774F-6EB8BDF2AECE}"/>
              </a:ext>
            </a:extLst>
          </p:cNvPr>
          <p:cNvGraphicFramePr>
            <a:graphicFrameLocks noGrp="1"/>
          </p:cNvGraphicFramePr>
          <p:nvPr>
            <p:extLst>
              <p:ext uri="{D42A27DB-BD31-4B8C-83A1-F6EECF244321}">
                <p14:modId xmlns:p14="http://schemas.microsoft.com/office/powerpoint/2010/main" val="878992116"/>
              </p:ext>
            </p:extLst>
          </p:nvPr>
        </p:nvGraphicFramePr>
        <p:xfrm>
          <a:off x="670560" y="737730"/>
          <a:ext cx="11769852" cy="5585346"/>
        </p:xfrm>
        <a:graphic>
          <a:graphicData uri="http://schemas.openxmlformats.org/drawingml/2006/table">
            <a:tbl>
              <a:tblPr/>
              <a:tblGrid>
                <a:gridCol w="1911888">
                  <a:extLst>
                    <a:ext uri="{9D8B030D-6E8A-4147-A177-3AD203B41FA5}">
                      <a16:colId xmlns:a16="http://schemas.microsoft.com/office/drawing/2014/main" val="1735617434"/>
                    </a:ext>
                  </a:extLst>
                </a:gridCol>
                <a:gridCol w="1608676">
                  <a:extLst>
                    <a:ext uri="{9D8B030D-6E8A-4147-A177-3AD203B41FA5}">
                      <a16:colId xmlns:a16="http://schemas.microsoft.com/office/drawing/2014/main" val="3897668956"/>
                    </a:ext>
                  </a:extLst>
                </a:gridCol>
                <a:gridCol w="4124644">
                  <a:extLst>
                    <a:ext uri="{9D8B030D-6E8A-4147-A177-3AD203B41FA5}">
                      <a16:colId xmlns:a16="http://schemas.microsoft.com/office/drawing/2014/main" val="4091501221"/>
                    </a:ext>
                  </a:extLst>
                </a:gridCol>
                <a:gridCol w="4124644">
                  <a:extLst>
                    <a:ext uri="{9D8B030D-6E8A-4147-A177-3AD203B41FA5}">
                      <a16:colId xmlns:a16="http://schemas.microsoft.com/office/drawing/2014/main" val="2840043824"/>
                    </a:ext>
                  </a:extLst>
                </a:gridCol>
              </a:tblGrid>
              <a:tr h="631595">
                <a:tc>
                  <a:txBody>
                    <a:bodyPr/>
                    <a:lstStyle/>
                    <a:p>
                      <a:pPr algn="ctr">
                        <a:buNone/>
                      </a:pPr>
                      <a:r>
                        <a:rPr lang="en-IN" sz="2000" b="1" dirty="0"/>
                        <a:t>Column Name</a:t>
                      </a:r>
                    </a:p>
                  </a:txBody>
                  <a:tcPr marL="66944" marR="66944" marT="33472" marB="33472" anchor="ctr">
                    <a:lnL>
                      <a:noFill/>
                    </a:lnL>
                    <a:lnR>
                      <a:noFill/>
                    </a:lnR>
                    <a:lnT>
                      <a:noFill/>
                    </a:lnT>
                    <a:lnB>
                      <a:noFill/>
                    </a:lnB>
                    <a:noFill/>
                  </a:tcPr>
                </a:tc>
                <a:tc>
                  <a:txBody>
                    <a:bodyPr/>
                    <a:lstStyle/>
                    <a:p>
                      <a:pPr algn="l">
                        <a:buNone/>
                      </a:pPr>
                      <a:r>
                        <a:rPr lang="en-US" sz="2000" b="1" dirty="0"/>
                        <a:t>Type</a:t>
                      </a:r>
                    </a:p>
                  </a:txBody>
                  <a:tcPr marL="66944" marR="66944" marT="33472" marB="33472" anchor="ctr">
                    <a:lnL>
                      <a:noFill/>
                    </a:lnL>
                    <a:lnR>
                      <a:noFill/>
                    </a:lnR>
                    <a:lnT>
                      <a:noFill/>
                    </a:lnT>
                    <a:lnB>
                      <a:noFill/>
                    </a:lnB>
                    <a:noFill/>
                  </a:tcPr>
                </a:tc>
                <a:tc>
                  <a:txBody>
                    <a:bodyPr/>
                    <a:lstStyle/>
                    <a:p>
                      <a:pPr algn="ctr">
                        <a:buNone/>
                      </a:pPr>
                      <a:r>
                        <a:rPr lang="en-IN" sz="2000" b="1" dirty="0"/>
                        <a:t>Description</a:t>
                      </a:r>
                    </a:p>
                  </a:txBody>
                  <a:tcPr anchor="ctr">
                    <a:lnL>
                      <a:noFill/>
                    </a:lnL>
                    <a:lnR>
                      <a:noFill/>
                    </a:lnR>
                    <a:lnT>
                      <a:noFill/>
                    </a:lnT>
                    <a:lnB>
                      <a:noFill/>
                    </a:lnB>
                    <a:noFill/>
                  </a:tcPr>
                </a:tc>
                <a:tc>
                  <a:txBody>
                    <a:bodyPr/>
                    <a:lstStyle/>
                    <a:p>
                      <a:pPr>
                        <a:buNone/>
                      </a:pPr>
                      <a:r>
                        <a:rPr lang="en-IN" sz="2000" b="1" dirty="0"/>
                        <a:t>Values </a:t>
                      </a:r>
                      <a:endParaRPr lang="en-IN" sz="2000" dirty="0"/>
                    </a:p>
                  </a:txBody>
                  <a:tcPr marL="89411" marR="89411" marT="44706" marB="44706" anchor="ctr">
                    <a:lnL>
                      <a:noFill/>
                    </a:lnL>
                    <a:lnR>
                      <a:noFill/>
                    </a:lnR>
                    <a:lnT>
                      <a:noFill/>
                    </a:lnT>
                    <a:lnB>
                      <a:noFill/>
                    </a:lnB>
                    <a:noFill/>
                  </a:tcPr>
                </a:tc>
                <a:extLst>
                  <a:ext uri="{0D108BD9-81ED-4DB2-BD59-A6C34878D82A}">
                    <a16:rowId xmlns:a16="http://schemas.microsoft.com/office/drawing/2014/main" val="306280252"/>
                  </a:ext>
                </a:extLst>
              </a:tr>
              <a:tr h="545281">
                <a:tc>
                  <a:txBody>
                    <a:bodyPr/>
                    <a:lstStyle/>
                    <a:p>
                      <a:pPr algn="l">
                        <a:buNone/>
                      </a:pPr>
                      <a:r>
                        <a:rPr lang="en-IN" sz="1500" b="1" dirty="0"/>
                        <a:t>Region</a:t>
                      </a:r>
                      <a:endParaRPr lang="en-IN" sz="1500" dirty="0"/>
                    </a:p>
                  </a:txBody>
                  <a:tcPr marL="66944" marR="66944" marT="33472" marB="33472" anchor="ctr">
                    <a:lnL>
                      <a:noFill/>
                    </a:lnL>
                    <a:lnR>
                      <a:noFill/>
                    </a:lnR>
                    <a:lnT>
                      <a:noFill/>
                    </a:lnT>
                    <a:lnB>
                      <a:noFill/>
                    </a:lnB>
                    <a:noFill/>
                  </a:tcPr>
                </a:tc>
                <a:tc>
                  <a:txBody>
                    <a:bodyPr/>
                    <a:lstStyle/>
                    <a:p>
                      <a:pPr algn="l">
                        <a:buNone/>
                      </a:pPr>
                      <a:r>
                        <a:rPr lang="en-US" sz="1500" dirty="0"/>
                        <a:t>Text</a:t>
                      </a:r>
                    </a:p>
                  </a:txBody>
                  <a:tcPr marL="66944" marR="66944" marT="33472" marB="33472" anchor="ctr">
                    <a:lnL>
                      <a:noFill/>
                    </a:lnL>
                    <a:lnR>
                      <a:noFill/>
                    </a:lnR>
                    <a:lnT>
                      <a:noFill/>
                    </a:lnT>
                    <a:lnB>
                      <a:noFill/>
                    </a:lnB>
                    <a:noFill/>
                  </a:tcPr>
                </a:tc>
                <a:tc>
                  <a:txBody>
                    <a:bodyPr/>
                    <a:lstStyle/>
                    <a:p>
                      <a:pPr>
                        <a:buNone/>
                      </a:pPr>
                      <a:r>
                        <a:rPr lang="en-US" dirty="0"/>
                        <a:t>The country  for which EV data is reported.</a:t>
                      </a:r>
                    </a:p>
                  </a:txBody>
                  <a:tcPr anchor="ctr">
                    <a:lnL>
                      <a:noFill/>
                    </a:lnL>
                    <a:lnR>
                      <a:noFill/>
                    </a:lnR>
                    <a:lnT>
                      <a:noFill/>
                    </a:lnT>
                    <a:lnB>
                      <a:noFill/>
                    </a:lnB>
                    <a:noFill/>
                  </a:tcPr>
                </a:tc>
                <a:tc>
                  <a:txBody>
                    <a:bodyPr/>
                    <a:lstStyle/>
                    <a:p>
                      <a:pPr>
                        <a:buNone/>
                      </a:pPr>
                      <a:r>
                        <a:rPr lang="en-US" sz="1400"/>
                        <a:t>Country names (e.g., China, India, USA)</a:t>
                      </a:r>
                    </a:p>
                  </a:txBody>
                  <a:tcPr marL="89411" marR="89411" marT="44706" marB="44706" anchor="ctr">
                    <a:lnL>
                      <a:noFill/>
                    </a:lnL>
                    <a:lnR>
                      <a:noFill/>
                    </a:lnR>
                    <a:lnT>
                      <a:noFill/>
                    </a:lnT>
                    <a:lnB>
                      <a:noFill/>
                    </a:lnB>
                    <a:noFill/>
                  </a:tcPr>
                </a:tc>
                <a:extLst>
                  <a:ext uri="{0D108BD9-81ED-4DB2-BD59-A6C34878D82A}">
                    <a16:rowId xmlns:a16="http://schemas.microsoft.com/office/drawing/2014/main" val="3724599377"/>
                  </a:ext>
                </a:extLst>
              </a:tr>
              <a:tr h="483734">
                <a:tc>
                  <a:txBody>
                    <a:bodyPr/>
                    <a:lstStyle/>
                    <a:p>
                      <a:pPr algn="l">
                        <a:buNone/>
                      </a:pPr>
                      <a:r>
                        <a:rPr lang="en-IN" sz="1500" b="1" dirty="0"/>
                        <a:t>Category</a:t>
                      </a:r>
                      <a:endParaRPr lang="en-IN" sz="1500" dirty="0"/>
                    </a:p>
                  </a:txBody>
                  <a:tcPr marL="66944" marR="66944" marT="33472" marB="33472" anchor="ctr">
                    <a:lnL>
                      <a:noFill/>
                    </a:lnL>
                    <a:lnR>
                      <a:noFill/>
                    </a:lnR>
                    <a:lnT>
                      <a:noFill/>
                    </a:lnT>
                    <a:lnB>
                      <a:noFill/>
                    </a:lnB>
                    <a:noFill/>
                  </a:tcPr>
                </a:tc>
                <a:tc>
                  <a:txBody>
                    <a:bodyPr/>
                    <a:lstStyle/>
                    <a:p>
                      <a:pPr algn="l">
                        <a:buNone/>
                      </a:pPr>
                      <a:r>
                        <a:rPr lang="en-US" sz="1500" dirty="0"/>
                        <a:t>Text</a:t>
                      </a:r>
                    </a:p>
                  </a:txBody>
                  <a:tcPr marL="66944" marR="66944" marT="33472" marB="33472" anchor="ctr">
                    <a:lnL>
                      <a:noFill/>
                    </a:lnL>
                    <a:lnR>
                      <a:noFill/>
                    </a:lnR>
                    <a:lnT>
                      <a:noFill/>
                    </a:lnT>
                    <a:lnB>
                      <a:noFill/>
                    </a:lnB>
                    <a:noFill/>
                  </a:tcPr>
                </a:tc>
                <a:tc>
                  <a:txBody>
                    <a:bodyPr/>
                    <a:lstStyle/>
                    <a:p>
                      <a:pPr>
                        <a:buNone/>
                      </a:pPr>
                      <a:r>
                        <a:rPr lang="en-US"/>
                        <a:t>Indicates whether the data is historical or belongs to a future projection scenario.</a:t>
                      </a:r>
                    </a:p>
                  </a:txBody>
                  <a:tcPr anchor="ctr">
                    <a:lnL>
                      <a:noFill/>
                    </a:lnL>
                    <a:lnR>
                      <a:noFill/>
                    </a:lnR>
                    <a:lnT>
                      <a:noFill/>
                    </a:lnT>
                    <a:lnB>
                      <a:noFill/>
                    </a:lnB>
                    <a:noFill/>
                  </a:tcPr>
                </a:tc>
                <a:tc>
                  <a:txBody>
                    <a:bodyPr/>
                    <a:lstStyle/>
                    <a:p>
                      <a:pPr>
                        <a:buNone/>
                      </a:pPr>
                      <a:r>
                        <a:rPr lang="en-IN" sz="1400"/>
                        <a:t>Historical, Projection-STEPS, Projection-APS</a:t>
                      </a:r>
                    </a:p>
                  </a:txBody>
                  <a:tcPr marL="89411" marR="89411" marT="44706" marB="44706" anchor="ctr">
                    <a:lnL>
                      <a:noFill/>
                    </a:lnL>
                    <a:lnR>
                      <a:noFill/>
                    </a:lnR>
                    <a:lnT>
                      <a:noFill/>
                    </a:lnT>
                    <a:lnB>
                      <a:noFill/>
                    </a:lnB>
                    <a:noFill/>
                  </a:tcPr>
                </a:tc>
                <a:extLst>
                  <a:ext uri="{0D108BD9-81ED-4DB2-BD59-A6C34878D82A}">
                    <a16:rowId xmlns:a16="http://schemas.microsoft.com/office/drawing/2014/main" val="4001845715"/>
                  </a:ext>
                </a:extLst>
              </a:tr>
              <a:tr h="704320">
                <a:tc>
                  <a:txBody>
                    <a:bodyPr/>
                    <a:lstStyle/>
                    <a:p>
                      <a:pPr algn="l">
                        <a:buNone/>
                      </a:pPr>
                      <a:r>
                        <a:rPr lang="en-IN" sz="1500" b="1" dirty="0"/>
                        <a:t>Parameter</a:t>
                      </a:r>
                      <a:endParaRPr lang="en-IN" sz="1500" dirty="0"/>
                    </a:p>
                  </a:txBody>
                  <a:tcPr marL="66944" marR="66944" marT="33472" marB="33472" anchor="ctr">
                    <a:lnL>
                      <a:noFill/>
                    </a:lnL>
                    <a:lnR>
                      <a:noFill/>
                    </a:lnR>
                    <a:lnT>
                      <a:noFill/>
                    </a:lnT>
                    <a:lnB>
                      <a:noFill/>
                    </a:lnB>
                    <a:noFill/>
                  </a:tcPr>
                </a:tc>
                <a:tc>
                  <a:txBody>
                    <a:bodyPr/>
                    <a:lstStyle/>
                    <a:p>
                      <a:pPr algn="l">
                        <a:buNone/>
                      </a:pPr>
                      <a:r>
                        <a:rPr lang="en-US" sz="1500" dirty="0"/>
                        <a:t>Text</a:t>
                      </a:r>
                    </a:p>
                  </a:txBody>
                  <a:tcPr marL="66944" marR="66944" marT="33472" marB="33472" anchor="ctr">
                    <a:lnL>
                      <a:noFill/>
                    </a:lnL>
                    <a:lnR>
                      <a:noFill/>
                    </a:lnR>
                    <a:lnT>
                      <a:noFill/>
                    </a:lnT>
                    <a:lnB>
                      <a:noFill/>
                    </a:lnB>
                    <a:noFill/>
                  </a:tcPr>
                </a:tc>
                <a:tc>
                  <a:txBody>
                    <a:bodyPr/>
                    <a:lstStyle/>
                    <a:p>
                      <a:pPr>
                        <a:buNone/>
                      </a:pPr>
                      <a:r>
                        <a:rPr lang="en-US" dirty="0"/>
                        <a:t>Describes the specific EV-related metric being measured.</a:t>
                      </a:r>
                    </a:p>
                  </a:txBody>
                  <a:tcPr anchor="ctr">
                    <a:lnL>
                      <a:noFill/>
                    </a:lnL>
                    <a:lnR>
                      <a:noFill/>
                    </a:lnR>
                    <a:lnT>
                      <a:noFill/>
                    </a:lnT>
                    <a:lnB>
                      <a:noFill/>
                    </a:lnB>
                    <a:noFill/>
                  </a:tcPr>
                </a:tc>
                <a:tc>
                  <a:txBody>
                    <a:bodyPr/>
                    <a:lstStyle/>
                    <a:p>
                      <a:pPr>
                        <a:buNone/>
                      </a:pPr>
                      <a:r>
                        <a:rPr lang="en-US" sz="1400" dirty="0"/>
                        <a:t>EV stock, EV sales, charging points, etc.</a:t>
                      </a:r>
                    </a:p>
                  </a:txBody>
                  <a:tcPr marL="89411" marR="89411" marT="44706" marB="44706" anchor="ctr">
                    <a:lnL>
                      <a:noFill/>
                    </a:lnL>
                    <a:lnR>
                      <a:noFill/>
                    </a:lnR>
                    <a:lnT>
                      <a:noFill/>
                    </a:lnT>
                    <a:lnB>
                      <a:noFill/>
                    </a:lnB>
                    <a:noFill/>
                  </a:tcPr>
                </a:tc>
                <a:extLst>
                  <a:ext uri="{0D108BD9-81ED-4DB2-BD59-A6C34878D82A}">
                    <a16:rowId xmlns:a16="http://schemas.microsoft.com/office/drawing/2014/main" val="3072662641"/>
                  </a:ext>
                </a:extLst>
              </a:tr>
              <a:tr h="545281">
                <a:tc>
                  <a:txBody>
                    <a:bodyPr/>
                    <a:lstStyle/>
                    <a:p>
                      <a:pPr algn="l">
                        <a:buNone/>
                      </a:pPr>
                      <a:r>
                        <a:rPr lang="en-IN" sz="1500" b="1" dirty="0"/>
                        <a:t>Mode</a:t>
                      </a:r>
                      <a:endParaRPr lang="en-IN" sz="1500" dirty="0"/>
                    </a:p>
                  </a:txBody>
                  <a:tcPr marL="66944" marR="66944" marT="33472" marB="33472" anchor="ctr">
                    <a:lnL>
                      <a:noFill/>
                    </a:lnL>
                    <a:lnR>
                      <a:noFill/>
                    </a:lnR>
                    <a:lnT>
                      <a:noFill/>
                    </a:lnT>
                    <a:lnB>
                      <a:noFill/>
                    </a:lnB>
                    <a:noFill/>
                  </a:tcPr>
                </a:tc>
                <a:tc>
                  <a:txBody>
                    <a:bodyPr/>
                    <a:lstStyle/>
                    <a:p>
                      <a:pPr algn="l">
                        <a:buNone/>
                      </a:pPr>
                      <a:r>
                        <a:rPr lang="en-US" sz="1500" dirty="0"/>
                        <a:t>Text</a:t>
                      </a:r>
                    </a:p>
                  </a:txBody>
                  <a:tcPr marL="66944" marR="66944" marT="33472" marB="33472" anchor="ctr">
                    <a:lnL>
                      <a:noFill/>
                    </a:lnL>
                    <a:lnR>
                      <a:noFill/>
                    </a:lnR>
                    <a:lnT>
                      <a:noFill/>
                    </a:lnT>
                    <a:lnB>
                      <a:noFill/>
                    </a:lnB>
                    <a:noFill/>
                  </a:tcPr>
                </a:tc>
                <a:tc>
                  <a:txBody>
                    <a:bodyPr/>
                    <a:lstStyle/>
                    <a:p>
                      <a:pPr>
                        <a:buNone/>
                      </a:pPr>
                      <a:r>
                        <a:rPr lang="en-US" dirty="0"/>
                        <a:t>Refers to the type of vehicle represented in the record.</a:t>
                      </a:r>
                    </a:p>
                  </a:txBody>
                  <a:tcPr anchor="ctr">
                    <a:lnL>
                      <a:noFill/>
                    </a:lnL>
                    <a:lnR>
                      <a:noFill/>
                    </a:lnR>
                    <a:lnT>
                      <a:noFill/>
                    </a:lnT>
                    <a:lnB>
                      <a:noFill/>
                    </a:lnB>
                    <a:noFill/>
                  </a:tcPr>
                </a:tc>
                <a:tc>
                  <a:txBody>
                    <a:bodyPr/>
                    <a:lstStyle/>
                    <a:p>
                      <a:pPr>
                        <a:buNone/>
                      </a:pPr>
                      <a:r>
                        <a:rPr lang="en-US" sz="1400" dirty="0"/>
                        <a:t>Cars, Buses, Vans, Trucks</a:t>
                      </a:r>
                    </a:p>
                  </a:txBody>
                  <a:tcPr marL="89411" marR="89411" marT="44706" marB="44706" anchor="ctr">
                    <a:lnL>
                      <a:noFill/>
                    </a:lnL>
                    <a:lnR>
                      <a:noFill/>
                    </a:lnR>
                    <a:lnT>
                      <a:noFill/>
                    </a:lnT>
                    <a:lnB>
                      <a:noFill/>
                    </a:lnB>
                    <a:noFill/>
                  </a:tcPr>
                </a:tc>
                <a:extLst>
                  <a:ext uri="{0D108BD9-81ED-4DB2-BD59-A6C34878D82A}">
                    <a16:rowId xmlns:a16="http://schemas.microsoft.com/office/drawing/2014/main" val="4098183007"/>
                  </a:ext>
                </a:extLst>
              </a:tr>
              <a:tr h="545281">
                <a:tc>
                  <a:txBody>
                    <a:bodyPr/>
                    <a:lstStyle/>
                    <a:p>
                      <a:pPr algn="l">
                        <a:buNone/>
                      </a:pPr>
                      <a:r>
                        <a:rPr lang="en-IN" sz="1500" b="1" dirty="0"/>
                        <a:t>Powertrain</a:t>
                      </a:r>
                      <a:endParaRPr lang="en-IN" sz="1500" dirty="0"/>
                    </a:p>
                  </a:txBody>
                  <a:tcPr marL="66944" marR="66944" marT="33472" marB="33472" anchor="ctr">
                    <a:lnL>
                      <a:noFill/>
                    </a:lnL>
                    <a:lnR>
                      <a:noFill/>
                    </a:lnR>
                    <a:lnT>
                      <a:noFill/>
                    </a:lnT>
                    <a:lnB>
                      <a:noFill/>
                    </a:lnB>
                    <a:noFill/>
                  </a:tcPr>
                </a:tc>
                <a:tc>
                  <a:txBody>
                    <a:bodyPr/>
                    <a:lstStyle/>
                    <a:p>
                      <a:pPr algn="l">
                        <a:buNone/>
                      </a:pPr>
                      <a:r>
                        <a:rPr lang="en-US" sz="1500" dirty="0"/>
                        <a:t>Text</a:t>
                      </a:r>
                    </a:p>
                  </a:txBody>
                  <a:tcPr marL="66944" marR="66944" marT="33472" marB="33472" anchor="ctr">
                    <a:lnL>
                      <a:noFill/>
                    </a:lnL>
                    <a:lnR>
                      <a:noFill/>
                    </a:lnR>
                    <a:lnT>
                      <a:noFill/>
                    </a:lnT>
                    <a:lnB>
                      <a:noFill/>
                    </a:lnB>
                    <a:noFill/>
                  </a:tcPr>
                </a:tc>
                <a:tc>
                  <a:txBody>
                    <a:bodyPr/>
                    <a:lstStyle/>
                    <a:p>
                      <a:pPr>
                        <a:buNone/>
                      </a:pPr>
                      <a:r>
                        <a:rPr lang="en-US" dirty="0"/>
                        <a:t>The EV technology or charging type in the dataset.</a:t>
                      </a:r>
                    </a:p>
                  </a:txBody>
                  <a:tcPr anchor="ctr">
                    <a:lnL>
                      <a:noFill/>
                    </a:lnL>
                    <a:lnR>
                      <a:noFill/>
                    </a:lnR>
                    <a:lnT>
                      <a:noFill/>
                    </a:lnT>
                    <a:lnB>
                      <a:noFill/>
                    </a:lnB>
                    <a:noFill/>
                  </a:tcPr>
                </a:tc>
                <a:tc>
                  <a:txBody>
                    <a:bodyPr/>
                    <a:lstStyle/>
                    <a:p>
                      <a:pPr>
                        <a:buNone/>
                      </a:pPr>
                      <a:r>
                        <a:rPr lang="en-IN" sz="1400" dirty="0"/>
                        <a:t>BEV, EV, PHEV, FCEV, Publicly Fast/Slow </a:t>
                      </a:r>
                    </a:p>
                  </a:txBody>
                  <a:tcPr marL="89411" marR="89411" marT="44706" marB="44706" anchor="ctr">
                    <a:lnL>
                      <a:noFill/>
                    </a:lnL>
                    <a:lnR>
                      <a:noFill/>
                    </a:lnR>
                    <a:lnT>
                      <a:noFill/>
                    </a:lnT>
                    <a:lnB>
                      <a:noFill/>
                    </a:lnB>
                    <a:noFill/>
                  </a:tcPr>
                </a:tc>
                <a:extLst>
                  <a:ext uri="{0D108BD9-81ED-4DB2-BD59-A6C34878D82A}">
                    <a16:rowId xmlns:a16="http://schemas.microsoft.com/office/drawing/2014/main" val="3858107316"/>
                  </a:ext>
                </a:extLst>
              </a:tr>
              <a:tr h="672898">
                <a:tc>
                  <a:txBody>
                    <a:bodyPr/>
                    <a:lstStyle/>
                    <a:p>
                      <a:pPr algn="l">
                        <a:buNone/>
                      </a:pPr>
                      <a:r>
                        <a:rPr lang="en-IN" sz="1500" b="1" dirty="0"/>
                        <a:t>Year</a:t>
                      </a:r>
                      <a:endParaRPr lang="en-IN" sz="1500" dirty="0"/>
                    </a:p>
                  </a:txBody>
                  <a:tcPr marL="66944" marR="66944" marT="33472" marB="33472" anchor="ctr">
                    <a:lnL>
                      <a:noFill/>
                    </a:lnL>
                    <a:lnR>
                      <a:noFill/>
                    </a:lnR>
                    <a:lnT>
                      <a:noFill/>
                    </a:lnT>
                    <a:lnB>
                      <a:noFill/>
                    </a:lnB>
                    <a:noFill/>
                  </a:tcPr>
                </a:tc>
                <a:tc>
                  <a:txBody>
                    <a:bodyPr/>
                    <a:lstStyle/>
                    <a:p>
                      <a:pPr algn="l">
                        <a:buNone/>
                      </a:pPr>
                      <a:r>
                        <a:rPr lang="en-US" sz="1500" dirty="0"/>
                        <a:t>Whole Number</a:t>
                      </a:r>
                    </a:p>
                  </a:txBody>
                  <a:tcPr marL="66944" marR="66944" marT="33472" marB="33472" anchor="ctr">
                    <a:lnL>
                      <a:noFill/>
                    </a:lnL>
                    <a:lnR>
                      <a:noFill/>
                    </a:lnR>
                    <a:lnT>
                      <a:noFill/>
                    </a:lnT>
                    <a:lnB>
                      <a:noFill/>
                    </a:lnB>
                    <a:noFill/>
                  </a:tcPr>
                </a:tc>
                <a:tc>
                  <a:txBody>
                    <a:bodyPr/>
                    <a:lstStyle/>
                    <a:p>
                      <a:pPr>
                        <a:buNone/>
                      </a:pPr>
                      <a:r>
                        <a:rPr lang="en-US" dirty="0"/>
                        <a:t>The year to which the recorded value corresponds.</a:t>
                      </a:r>
                    </a:p>
                  </a:txBody>
                  <a:tcPr anchor="ctr">
                    <a:lnL>
                      <a:noFill/>
                    </a:lnL>
                    <a:lnR>
                      <a:noFill/>
                    </a:lnR>
                    <a:lnT>
                      <a:noFill/>
                    </a:lnT>
                    <a:lnB>
                      <a:noFill/>
                    </a:lnB>
                    <a:noFill/>
                  </a:tcPr>
                </a:tc>
                <a:tc>
                  <a:txBody>
                    <a:bodyPr/>
                    <a:lstStyle/>
                    <a:p>
                      <a:pPr>
                        <a:buNone/>
                      </a:pPr>
                      <a:r>
                        <a:rPr lang="en-IN" sz="1400"/>
                        <a:t>Whole numbers (2010–2024)</a:t>
                      </a:r>
                    </a:p>
                  </a:txBody>
                  <a:tcPr marL="89411" marR="89411" marT="44706" marB="44706" anchor="ctr">
                    <a:lnL>
                      <a:noFill/>
                    </a:lnL>
                    <a:lnR>
                      <a:noFill/>
                    </a:lnR>
                    <a:lnT>
                      <a:noFill/>
                    </a:lnT>
                    <a:lnB>
                      <a:noFill/>
                    </a:lnB>
                    <a:noFill/>
                  </a:tcPr>
                </a:tc>
                <a:extLst>
                  <a:ext uri="{0D108BD9-81ED-4DB2-BD59-A6C34878D82A}">
                    <a16:rowId xmlns:a16="http://schemas.microsoft.com/office/drawing/2014/main" val="3787690711"/>
                  </a:ext>
                </a:extLst>
              </a:tr>
              <a:tr h="545281">
                <a:tc>
                  <a:txBody>
                    <a:bodyPr/>
                    <a:lstStyle/>
                    <a:p>
                      <a:pPr algn="l">
                        <a:buNone/>
                      </a:pPr>
                      <a:r>
                        <a:rPr lang="en-IN" sz="1500" b="1" dirty="0"/>
                        <a:t>Unit</a:t>
                      </a:r>
                      <a:endParaRPr lang="en-IN" sz="1500" dirty="0"/>
                    </a:p>
                  </a:txBody>
                  <a:tcPr marL="66944" marR="66944" marT="33472" marB="33472" anchor="ctr">
                    <a:lnL>
                      <a:noFill/>
                    </a:lnL>
                    <a:lnR>
                      <a:noFill/>
                    </a:lnR>
                    <a:lnT>
                      <a:noFill/>
                    </a:lnT>
                    <a:lnB>
                      <a:noFill/>
                    </a:lnB>
                    <a:noFill/>
                  </a:tcPr>
                </a:tc>
                <a:tc>
                  <a:txBody>
                    <a:bodyPr/>
                    <a:lstStyle/>
                    <a:p>
                      <a:pPr algn="l">
                        <a:buNone/>
                      </a:pPr>
                      <a:r>
                        <a:rPr lang="en-US" sz="1500" dirty="0"/>
                        <a:t>Text</a:t>
                      </a:r>
                    </a:p>
                  </a:txBody>
                  <a:tcPr marL="66944" marR="66944" marT="33472" marB="33472" anchor="ctr">
                    <a:lnL>
                      <a:noFill/>
                    </a:lnL>
                    <a:lnR>
                      <a:noFill/>
                    </a:lnR>
                    <a:lnT>
                      <a:noFill/>
                    </a:lnT>
                    <a:lnB>
                      <a:noFill/>
                    </a:lnB>
                    <a:noFill/>
                  </a:tcPr>
                </a:tc>
                <a:tc>
                  <a:txBody>
                    <a:bodyPr/>
                    <a:lstStyle/>
                    <a:p>
                      <a:pPr>
                        <a:buNone/>
                      </a:pPr>
                      <a:r>
                        <a:rPr lang="en-US" dirty="0"/>
                        <a:t>The unit used to measure the metric in the dataset.</a:t>
                      </a:r>
                    </a:p>
                  </a:txBody>
                  <a:tcPr anchor="ctr">
                    <a:lnL>
                      <a:noFill/>
                    </a:lnL>
                    <a:lnR>
                      <a:noFill/>
                    </a:lnR>
                    <a:lnT>
                      <a:noFill/>
                    </a:lnT>
                    <a:lnB>
                      <a:noFill/>
                    </a:lnB>
                    <a:noFill/>
                  </a:tcPr>
                </a:tc>
                <a:tc>
                  <a:txBody>
                    <a:bodyPr/>
                    <a:lstStyle/>
                    <a:p>
                      <a:pPr>
                        <a:buNone/>
                      </a:pPr>
                      <a:r>
                        <a:rPr lang="en-IN" sz="1400" dirty="0"/>
                        <a:t>Vehicles, %, GWh, charging points, etc.</a:t>
                      </a:r>
                    </a:p>
                  </a:txBody>
                  <a:tcPr marL="89411" marR="89411" marT="44706" marB="44706" anchor="ctr">
                    <a:lnL>
                      <a:noFill/>
                    </a:lnL>
                    <a:lnR>
                      <a:noFill/>
                    </a:lnR>
                    <a:lnT>
                      <a:noFill/>
                    </a:lnT>
                    <a:lnB>
                      <a:noFill/>
                    </a:lnB>
                    <a:noFill/>
                  </a:tcPr>
                </a:tc>
                <a:extLst>
                  <a:ext uri="{0D108BD9-81ED-4DB2-BD59-A6C34878D82A}">
                    <a16:rowId xmlns:a16="http://schemas.microsoft.com/office/drawing/2014/main" val="1004500416"/>
                  </a:ext>
                </a:extLst>
              </a:tr>
              <a:tr h="877249">
                <a:tc>
                  <a:txBody>
                    <a:bodyPr/>
                    <a:lstStyle/>
                    <a:p>
                      <a:pPr algn="l">
                        <a:buNone/>
                      </a:pPr>
                      <a:r>
                        <a:rPr lang="en-IN" sz="1500" b="1" dirty="0"/>
                        <a:t>Value</a:t>
                      </a:r>
                      <a:endParaRPr lang="en-IN" sz="1500" dirty="0"/>
                    </a:p>
                  </a:txBody>
                  <a:tcPr marL="66944" marR="66944" marT="33472" marB="33472" anchor="ctr">
                    <a:lnL>
                      <a:noFill/>
                    </a:lnL>
                    <a:lnR>
                      <a:noFill/>
                    </a:lnR>
                    <a:lnT>
                      <a:noFill/>
                    </a:lnT>
                    <a:lnB>
                      <a:noFill/>
                    </a:lnB>
                    <a:noFill/>
                  </a:tcPr>
                </a:tc>
                <a:tc>
                  <a:txBody>
                    <a:bodyPr/>
                    <a:lstStyle/>
                    <a:p>
                      <a:pPr algn="l">
                        <a:buNone/>
                      </a:pPr>
                      <a:r>
                        <a:rPr lang="en-US" sz="1500" dirty="0"/>
                        <a:t>Decimal Number</a:t>
                      </a:r>
                    </a:p>
                  </a:txBody>
                  <a:tcPr marL="66944" marR="66944" marT="33472" marB="33472" anchor="ctr">
                    <a:lnL>
                      <a:noFill/>
                    </a:lnL>
                    <a:lnR>
                      <a:noFill/>
                    </a:lnR>
                    <a:lnT>
                      <a:noFill/>
                    </a:lnT>
                    <a:lnB>
                      <a:noFill/>
                    </a:lnB>
                    <a:noFill/>
                  </a:tcPr>
                </a:tc>
                <a:tc>
                  <a:txBody>
                    <a:bodyPr/>
                    <a:lstStyle/>
                    <a:p>
                      <a:pPr>
                        <a:buNone/>
                      </a:pPr>
                      <a:r>
                        <a:rPr lang="en-US" dirty="0"/>
                        <a:t>The numeric value of the measured parameter.</a:t>
                      </a:r>
                    </a:p>
                  </a:txBody>
                  <a:tcPr anchor="ctr">
                    <a:lnL>
                      <a:noFill/>
                    </a:lnL>
                    <a:lnR>
                      <a:noFill/>
                    </a:lnR>
                    <a:lnT>
                      <a:noFill/>
                    </a:lnT>
                    <a:lnB>
                      <a:noFill/>
                    </a:lnB>
                    <a:noFill/>
                  </a:tcPr>
                </a:tc>
                <a:tc>
                  <a:txBody>
                    <a:bodyPr/>
                    <a:lstStyle/>
                    <a:p>
                      <a:pPr>
                        <a:buNone/>
                      </a:pPr>
                      <a:r>
                        <a:rPr lang="en-US" sz="1400" dirty="0"/>
                        <a:t>Numeric values depending on parameter</a:t>
                      </a:r>
                    </a:p>
                  </a:txBody>
                  <a:tcPr marL="89411" marR="89411" marT="44706" marB="44706" anchor="ctr">
                    <a:lnL>
                      <a:noFill/>
                    </a:lnL>
                    <a:lnR>
                      <a:noFill/>
                    </a:lnR>
                    <a:lnT>
                      <a:noFill/>
                    </a:lnT>
                    <a:lnB>
                      <a:noFill/>
                    </a:lnB>
                    <a:noFill/>
                  </a:tcPr>
                </a:tc>
                <a:extLst>
                  <a:ext uri="{0D108BD9-81ED-4DB2-BD59-A6C34878D82A}">
                    <a16:rowId xmlns:a16="http://schemas.microsoft.com/office/drawing/2014/main" val="2629894939"/>
                  </a:ext>
                </a:extLst>
              </a:tr>
            </a:tbl>
          </a:graphicData>
        </a:graphic>
      </p:graphicFrame>
    </p:spTree>
    <p:extLst>
      <p:ext uri="{BB962C8B-B14F-4D97-AF65-F5344CB8AC3E}">
        <p14:creationId xmlns:p14="http://schemas.microsoft.com/office/powerpoint/2010/main" val="73034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E9433F4-BAE5-5AE1-9570-CA5DD2323D5B}"/>
              </a:ext>
            </a:extLst>
          </p:cNvPr>
          <p:cNvPicPr>
            <a:picLocks noChangeAspect="1"/>
          </p:cNvPicPr>
          <p:nvPr/>
        </p:nvPicPr>
        <p:blipFill>
          <a:blip r:embed="rId2"/>
          <a:stretch>
            <a:fillRect/>
          </a:stretch>
        </p:blipFill>
        <p:spPr>
          <a:xfrm>
            <a:off x="6998161" y="2072109"/>
            <a:ext cx="5193839" cy="2713781"/>
          </a:xfrm>
          <a:prstGeom prst="rect">
            <a:avLst/>
          </a:prstGeom>
        </p:spPr>
      </p:pic>
      <p:sp>
        <p:nvSpPr>
          <p:cNvPr id="5" name="Google Shape;105;p3">
            <a:extLst>
              <a:ext uri="{FF2B5EF4-FFF2-40B4-BE49-F238E27FC236}">
                <a16:creationId xmlns:a16="http://schemas.microsoft.com/office/drawing/2014/main" id="{90BC9153-76AD-FBC4-9D98-E32CD52248DE}"/>
              </a:ext>
            </a:extLst>
          </p:cNvPr>
          <p:cNvSpPr txBox="1"/>
          <p:nvPr/>
        </p:nvSpPr>
        <p:spPr>
          <a:xfrm>
            <a:off x="71120" y="91440"/>
            <a:ext cx="8172784" cy="630902"/>
          </a:xfrm>
          <a:prstGeom prst="rect">
            <a:avLst/>
          </a:prstGeom>
          <a:noFill/>
          <a:ln>
            <a:noFill/>
          </a:ln>
        </p:spPr>
        <p:txBody>
          <a:bodyPr spcFirstLastPara="1" wrap="square" lIns="91425" tIns="45700" rIns="91425" bIns="45700" anchor="t" anchorCtr="0">
            <a:spAutoFit/>
          </a:bodyPr>
          <a:lstStyle/>
          <a:p>
            <a:pPr eaLnBrk="0" fontAlgn="base" hangingPunct="0">
              <a:spcBef>
                <a:spcPct val="0"/>
              </a:spcBef>
              <a:spcAft>
                <a:spcPct val="0"/>
              </a:spcAft>
              <a:buClrTx/>
            </a:pPr>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Data Preparation &amp; Steps Followed</a:t>
            </a:r>
          </a:p>
        </p:txBody>
      </p:sp>
      <p:sp>
        <p:nvSpPr>
          <p:cNvPr id="2" name="TextBox 1">
            <a:extLst>
              <a:ext uri="{FF2B5EF4-FFF2-40B4-BE49-F238E27FC236}">
                <a16:creationId xmlns:a16="http://schemas.microsoft.com/office/drawing/2014/main" id="{579A1979-3640-EBCB-03E1-4B94D43B80F9}"/>
              </a:ext>
            </a:extLst>
          </p:cNvPr>
          <p:cNvSpPr txBox="1"/>
          <p:nvPr/>
        </p:nvSpPr>
        <p:spPr>
          <a:xfrm>
            <a:off x="161907" y="1166842"/>
            <a:ext cx="10525760" cy="4801314"/>
          </a:xfrm>
          <a:prstGeom prst="rect">
            <a:avLst/>
          </a:prstGeom>
          <a:noFill/>
        </p:spPr>
        <p:txBody>
          <a:bodyPr wrap="square" rtlCol="0">
            <a:spAutoFit/>
          </a:bodyPr>
          <a:lstStyle/>
          <a:p>
            <a:r>
              <a:rPr lang="en-US" sz="1800" dirty="0"/>
              <a:t>1. Removed Non-Country Regions (World, Rest of World)</a:t>
            </a:r>
          </a:p>
          <a:p>
            <a:pPr marL="714375" indent="-357188">
              <a:buFont typeface="Arial" panose="020B0604020202020204" pitchFamily="34" charset="0"/>
              <a:buChar char="•"/>
            </a:pPr>
            <a:r>
              <a:rPr lang="en-US" sz="1800" dirty="0"/>
              <a:t>These are aggregated values that include all countries.</a:t>
            </a:r>
          </a:p>
          <a:p>
            <a:pPr marL="714375" indent="-357188">
              <a:buFont typeface="Arial" panose="020B0604020202020204" pitchFamily="34" charset="0"/>
              <a:buChar char="•"/>
            </a:pPr>
            <a:r>
              <a:rPr lang="en-US" sz="1800" dirty="0"/>
              <a:t>Keeping them would double-count totals and distort regional comparisons.</a:t>
            </a:r>
          </a:p>
          <a:p>
            <a:endParaRPr lang="en-US" sz="1800" dirty="0"/>
          </a:p>
          <a:p>
            <a:r>
              <a:rPr lang="en-US" sz="1800" dirty="0"/>
              <a:t>2. Removed Years Outside 2010–2024</a:t>
            </a:r>
          </a:p>
          <a:p>
            <a:pPr marL="714375" indent="-357188">
              <a:buFont typeface="Arial" panose="020B0604020202020204" pitchFamily="34" charset="0"/>
              <a:buChar char="•"/>
            </a:pPr>
            <a:r>
              <a:rPr lang="en-US" sz="1800" dirty="0"/>
              <a:t>Dataset included projection years and years outside the </a:t>
            </a:r>
          </a:p>
          <a:p>
            <a:pPr marL="357187"/>
            <a:r>
              <a:rPr lang="en-US" sz="1800" dirty="0"/>
              <a:t>      stated range.</a:t>
            </a:r>
          </a:p>
          <a:p>
            <a:pPr marL="714375" indent="-357188">
              <a:buFont typeface="Arial" panose="020B0604020202020204" pitchFamily="34" charset="0"/>
              <a:buChar char="•"/>
            </a:pPr>
            <a:r>
              <a:rPr lang="en-US" sz="1800" dirty="0"/>
              <a:t>Removing unwanted rows ensured accurate</a:t>
            </a:r>
          </a:p>
          <a:p>
            <a:pPr marL="357187"/>
            <a:r>
              <a:rPr lang="en-US" sz="1800" dirty="0"/>
              <a:t>      historical analysis and consistency with the project timeline.</a:t>
            </a:r>
          </a:p>
          <a:p>
            <a:endParaRPr lang="en-US" sz="1800" dirty="0"/>
          </a:p>
          <a:p>
            <a:r>
              <a:rPr lang="en-US" sz="1800" dirty="0"/>
              <a:t>3. Created </a:t>
            </a:r>
            <a:r>
              <a:rPr lang="en-US" sz="1800" dirty="0" err="1"/>
              <a:t>transport_type</a:t>
            </a:r>
            <a:r>
              <a:rPr lang="en-US" sz="1800" dirty="0"/>
              <a:t> (Passenger vs Freight)</a:t>
            </a:r>
          </a:p>
          <a:p>
            <a:pPr marL="714375" indent="-357188">
              <a:buFont typeface="Arial" panose="020B0604020202020204" pitchFamily="34" charset="0"/>
              <a:buChar char="•"/>
            </a:pPr>
            <a:r>
              <a:rPr lang="en-US" sz="1800" dirty="0"/>
              <a:t>Needed to compare EV adoption across transport purposes.</a:t>
            </a:r>
          </a:p>
          <a:p>
            <a:pPr marL="714375" indent="-357188">
              <a:buFont typeface="Arial" panose="020B0604020202020204" pitchFamily="34" charset="0"/>
              <a:buChar char="•"/>
            </a:pPr>
            <a:r>
              <a:rPr lang="en-US" sz="1800" dirty="0"/>
              <a:t>Passenger modes (Cars, Buses) vs Freight modes (Trucks).</a:t>
            </a:r>
          </a:p>
          <a:p>
            <a:endParaRPr lang="en-US" sz="1800" dirty="0"/>
          </a:p>
          <a:p>
            <a:r>
              <a:rPr lang="en-US" sz="1800" dirty="0"/>
              <a:t>4. Created Developed vs Developing Country Classification</a:t>
            </a:r>
          </a:p>
          <a:p>
            <a:pPr marL="714375" indent="-357188">
              <a:buFont typeface="Arial" panose="020B0604020202020204" pitchFamily="34" charset="0"/>
              <a:buChar char="•"/>
            </a:pPr>
            <a:r>
              <a:rPr lang="en-US" sz="1800" dirty="0"/>
              <a:t>Helps analyze EV adoption across economic groups.</a:t>
            </a:r>
          </a:p>
          <a:p>
            <a:pPr marL="714375" indent="-357188">
              <a:buFont typeface="Arial" panose="020B0604020202020204" pitchFamily="34" charset="0"/>
              <a:buChar char="•"/>
            </a:pPr>
            <a:r>
              <a:rPr lang="en-US" sz="1800" dirty="0"/>
              <a:t>Provides clearer insights into market maturity, sales growth, and infrastructure differences.</a:t>
            </a:r>
          </a:p>
        </p:txBody>
      </p:sp>
    </p:spTree>
    <p:extLst>
      <p:ext uri="{BB962C8B-B14F-4D97-AF65-F5344CB8AC3E}">
        <p14:creationId xmlns:p14="http://schemas.microsoft.com/office/powerpoint/2010/main" val="2662494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FF00714A-0D09-2835-2FCD-BAAC8BFE7FE4}"/>
              </a:ext>
            </a:extLst>
          </p:cNvPr>
          <p:cNvSpPr txBox="1"/>
          <p:nvPr/>
        </p:nvSpPr>
        <p:spPr>
          <a:xfrm>
            <a:off x="0" y="0"/>
            <a:ext cx="4814138" cy="630942"/>
          </a:xfrm>
          <a:prstGeom prst="rect">
            <a:avLst/>
          </a:prstGeom>
          <a:noFill/>
        </p:spPr>
        <p:txBody>
          <a:bodyPr wrap="none" rtlCol="0">
            <a:spAutoFit/>
          </a:bodyPr>
          <a:lstStyle/>
          <a:p>
            <a:pPr lvl="0" eaLnBrk="0" fontAlgn="base" hangingPunct="0">
              <a:spcBef>
                <a:spcPct val="0"/>
              </a:spcBef>
              <a:spcAft>
                <a:spcPct val="0"/>
              </a:spcAft>
              <a:buClrTx/>
            </a:pPr>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Final Dashboard Preview</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descr="Add-in content for Microsoft Power BI."/>
              <p:cNvGraphicFramePr>
                <a:graphicFrameLocks noGrp="1"/>
              </p:cNvGraphicFramePr>
              <p:nvPr>
                <p:extLst>
                  <p:ext uri="{D42A27DB-BD31-4B8C-83A1-F6EECF244321}">
                    <p14:modId xmlns:p14="http://schemas.microsoft.com/office/powerpoint/2010/main" val="2044806364"/>
                  </p:ext>
                </p:extLst>
              </p:nvPr>
            </p:nvGraphicFramePr>
            <p:xfrm>
              <a:off x="0" y="630942"/>
              <a:ext cx="12192000" cy="6227058"/>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2" name="Add-in" descr="Add-in content for Microsoft Power BI."/>
              <p:cNvPicPr>
                <a:picLocks noGrp="1" noRot="1" noChangeAspect="1" noMove="1" noResize="1" noEditPoints="1" noAdjustHandles="1" noChangeArrowheads="1" noChangeShapeType="1"/>
              </p:cNvPicPr>
              <p:nvPr/>
            </p:nvPicPr>
            <p:blipFill>
              <a:blip r:embed="rId3"/>
              <a:stretch>
                <a:fillRect/>
              </a:stretch>
            </p:blipFill>
            <p:spPr>
              <a:xfrm>
                <a:off x="0" y="630942"/>
                <a:ext cx="12192000" cy="6227058"/>
              </a:xfrm>
              <a:prstGeom prst="rect">
                <a:avLst/>
              </a:prstGeom>
            </p:spPr>
          </p:pic>
        </mc:Fallback>
      </mc:AlternateContent>
    </p:spTree>
    <p:extLst>
      <p:ext uri="{BB962C8B-B14F-4D97-AF65-F5344CB8AC3E}">
        <p14:creationId xmlns:p14="http://schemas.microsoft.com/office/powerpoint/2010/main" val="343154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A screenshot of a graph&#10;&#10;AI-generated content may be incorrect.">
            <a:extLst>
              <a:ext uri="{FF2B5EF4-FFF2-40B4-BE49-F238E27FC236}">
                <a16:creationId xmlns:a16="http://schemas.microsoft.com/office/drawing/2014/main" id="{6230D990-184D-4FB1-70A4-1161F0F480E5}"/>
              </a:ext>
            </a:extLst>
          </p:cNvPr>
          <p:cNvPicPr>
            <a:picLocks noChangeAspect="1"/>
          </p:cNvPicPr>
          <p:nvPr/>
        </p:nvPicPr>
        <p:blipFill>
          <a:blip r:embed="rId2"/>
          <a:stretch>
            <a:fillRect/>
          </a:stretch>
        </p:blipFill>
        <p:spPr>
          <a:xfrm>
            <a:off x="7067050" y="2108020"/>
            <a:ext cx="4487376" cy="3014534"/>
          </a:xfrm>
          <a:prstGeom prst="rect">
            <a:avLst/>
          </a:prstGeom>
          <a:ln>
            <a:solidFill>
              <a:schemeClr val="bg1"/>
            </a:solidFill>
          </a:ln>
        </p:spPr>
      </p:pic>
      <p:pic>
        <p:nvPicPr>
          <p:cNvPr id="6" name="Picture 2" descr="A graph of a transportation mode&#10;&#10;AI-generated content may be incorrect.">
            <a:extLst>
              <a:ext uri="{FF2B5EF4-FFF2-40B4-BE49-F238E27FC236}">
                <a16:creationId xmlns:a16="http://schemas.microsoft.com/office/drawing/2014/main" id="{2620085B-0A85-D921-71A1-F165953B4E7B}"/>
              </a:ext>
            </a:extLst>
          </p:cNvPr>
          <p:cNvPicPr>
            <a:picLocks noChangeAspect="1"/>
          </p:cNvPicPr>
          <p:nvPr/>
        </p:nvPicPr>
        <p:blipFill>
          <a:blip r:embed="rId3"/>
          <a:stretch>
            <a:fillRect/>
          </a:stretch>
        </p:blipFill>
        <p:spPr>
          <a:xfrm>
            <a:off x="7067050" y="2109892"/>
            <a:ext cx="4500760" cy="3014534"/>
          </a:xfrm>
          <a:prstGeom prst="rect">
            <a:avLst/>
          </a:prstGeom>
          <a:ln>
            <a:solidFill>
              <a:schemeClr val="bg1"/>
            </a:solidFill>
          </a:ln>
        </p:spPr>
      </p:pic>
      <p:pic>
        <p:nvPicPr>
          <p:cNvPr id="8" name="Picture 3" descr="A blue circle with numbers and text&#10;&#10;AI-generated content may be incorrect.">
            <a:extLst>
              <a:ext uri="{FF2B5EF4-FFF2-40B4-BE49-F238E27FC236}">
                <a16:creationId xmlns:a16="http://schemas.microsoft.com/office/drawing/2014/main" id="{2976B3C9-38CB-0AFC-178C-60C14A351ED2}"/>
              </a:ext>
            </a:extLst>
          </p:cNvPr>
          <p:cNvPicPr>
            <a:picLocks noChangeAspect="1"/>
          </p:cNvPicPr>
          <p:nvPr/>
        </p:nvPicPr>
        <p:blipFill>
          <a:blip r:embed="rId4"/>
          <a:stretch>
            <a:fillRect/>
          </a:stretch>
        </p:blipFill>
        <p:spPr>
          <a:xfrm>
            <a:off x="7067050" y="2108020"/>
            <a:ext cx="4500760" cy="3015470"/>
          </a:xfrm>
          <a:prstGeom prst="rect">
            <a:avLst/>
          </a:prstGeom>
          <a:ln>
            <a:solidFill>
              <a:schemeClr val="bg1"/>
            </a:solidFill>
          </a:ln>
        </p:spPr>
      </p:pic>
      <p:pic>
        <p:nvPicPr>
          <p:cNvPr id="10" name="Picture 4" descr="A graph with a line going up&#10;&#10;AI-generated content may be incorrect.">
            <a:extLst>
              <a:ext uri="{FF2B5EF4-FFF2-40B4-BE49-F238E27FC236}">
                <a16:creationId xmlns:a16="http://schemas.microsoft.com/office/drawing/2014/main" id="{8A85C025-DAA2-B6EE-8C38-0D3DDEA23933}"/>
              </a:ext>
            </a:extLst>
          </p:cNvPr>
          <p:cNvPicPr>
            <a:picLocks noChangeAspect="1"/>
          </p:cNvPicPr>
          <p:nvPr/>
        </p:nvPicPr>
        <p:blipFill>
          <a:blip r:embed="rId5"/>
          <a:stretch>
            <a:fillRect/>
          </a:stretch>
        </p:blipFill>
        <p:spPr>
          <a:xfrm>
            <a:off x="7067050" y="2095291"/>
            <a:ext cx="4500760" cy="3028152"/>
          </a:xfrm>
          <a:prstGeom prst="rect">
            <a:avLst/>
          </a:prstGeom>
          <a:ln>
            <a:solidFill>
              <a:schemeClr val="bg1"/>
            </a:solidFill>
          </a:ln>
        </p:spPr>
      </p:pic>
      <p:pic>
        <p:nvPicPr>
          <p:cNvPr id="19" name="Picture 5" descr="A graph of a number of blue bars&#10;&#10;AI-generated content may be incorrect.">
            <a:extLst>
              <a:ext uri="{FF2B5EF4-FFF2-40B4-BE49-F238E27FC236}">
                <a16:creationId xmlns:a16="http://schemas.microsoft.com/office/drawing/2014/main" id="{1C49FC40-8A6E-165B-0483-A7136712CDE4}"/>
              </a:ext>
            </a:extLst>
          </p:cNvPr>
          <p:cNvPicPr>
            <a:picLocks noChangeAspect="1"/>
          </p:cNvPicPr>
          <p:nvPr/>
        </p:nvPicPr>
        <p:blipFill>
          <a:blip r:embed="rId6"/>
          <a:stretch>
            <a:fillRect/>
          </a:stretch>
        </p:blipFill>
        <p:spPr>
          <a:xfrm>
            <a:off x="7067050" y="2094355"/>
            <a:ext cx="4500760" cy="3028199"/>
          </a:xfrm>
          <a:prstGeom prst="rect">
            <a:avLst/>
          </a:prstGeom>
          <a:ln>
            <a:solidFill>
              <a:schemeClr val="bg1"/>
            </a:solidFill>
          </a:ln>
        </p:spPr>
      </p:pic>
      <p:pic>
        <p:nvPicPr>
          <p:cNvPr id="20" name="Picture 6" descr="A graph of an increasing number of ev stock&#10;&#10;AI-generated content may be incorrect.">
            <a:extLst>
              <a:ext uri="{FF2B5EF4-FFF2-40B4-BE49-F238E27FC236}">
                <a16:creationId xmlns:a16="http://schemas.microsoft.com/office/drawing/2014/main" id="{D62AB976-96C2-7E7E-3B2B-8803C88704E3}"/>
              </a:ext>
            </a:extLst>
          </p:cNvPr>
          <p:cNvPicPr>
            <a:picLocks noChangeAspect="1"/>
          </p:cNvPicPr>
          <p:nvPr/>
        </p:nvPicPr>
        <p:blipFill>
          <a:blip r:embed="rId7"/>
          <a:stretch>
            <a:fillRect/>
          </a:stretch>
        </p:blipFill>
        <p:spPr>
          <a:xfrm>
            <a:off x="7067050" y="2107084"/>
            <a:ext cx="4500760" cy="3015470"/>
          </a:xfrm>
          <a:prstGeom prst="rect">
            <a:avLst/>
          </a:prstGeom>
          <a:ln>
            <a:solidFill>
              <a:schemeClr val="bg1"/>
            </a:solidFill>
          </a:ln>
        </p:spPr>
      </p:pic>
      <p:pic>
        <p:nvPicPr>
          <p:cNvPr id="21" name="Picture 7" descr="A graph with a line going up&#10;&#10;AI-generated content may be incorrect.">
            <a:extLst>
              <a:ext uri="{FF2B5EF4-FFF2-40B4-BE49-F238E27FC236}">
                <a16:creationId xmlns:a16="http://schemas.microsoft.com/office/drawing/2014/main" id="{B0C811D8-B609-31D4-8115-1CA7719AEC1B}"/>
              </a:ext>
            </a:extLst>
          </p:cNvPr>
          <p:cNvPicPr>
            <a:picLocks noChangeAspect="1"/>
          </p:cNvPicPr>
          <p:nvPr/>
        </p:nvPicPr>
        <p:blipFill>
          <a:blip r:embed="rId8"/>
          <a:stretch>
            <a:fillRect/>
          </a:stretch>
        </p:blipFill>
        <p:spPr>
          <a:xfrm>
            <a:off x="7060358" y="2093419"/>
            <a:ext cx="4500760" cy="3014534"/>
          </a:xfrm>
          <a:prstGeom prst="rect">
            <a:avLst/>
          </a:prstGeom>
          <a:ln>
            <a:solidFill>
              <a:schemeClr val="bg1"/>
            </a:solidFill>
          </a:ln>
        </p:spPr>
      </p:pic>
      <p:pic>
        <p:nvPicPr>
          <p:cNvPr id="22" name="Picture 8" descr="Vehicle mode and region combinations reveal large adoption disparities.&#10;&#10;">
            <a:extLst>
              <a:ext uri="{FF2B5EF4-FFF2-40B4-BE49-F238E27FC236}">
                <a16:creationId xmlns:a16="http://schemas.microsoft.com/office/drawing/2014/main" id="{3EBED8CE-3140-A405-5AB9-30BE4B0DBBED}"/>
              </a:ext>
              <a:ext uri="{C183D7F6-B498-43B3-948B-1728B52AA6E4}">
                <adec:decorative xmlns:adec="http://schemas.microsoft.com/office/drawing/2017/decorative" val="0"/>
              </a:ext>
            </a:extLst>
          </p:cNvPr>
          <p:cNvPicPr>
            <a:picLocks noChangeAspect="1"/>
          </p:cNvPicPr>
          <p:nvPr/>
        </p:nvPicPr>
        <p:blipFill>
          <a:blip r:embed="rId9"/>
          <a:stretch>
            <a:fillRect/>
          </a:stretch>
        </p:blipFill>
        <p:spPr>
          <a:xfrm>
            <a:off x="7073742" y="2106148"/>
            <a:ext cx="4500760" cy="3009106"/>
          </a:xfrm>
          <a:prstGeom prst="rect">
            <a:avLst/>
          </a:prstGeom>
          <a:ln>
            <a:solidFill>
              <a:schemeClr val="bg1"/>
            </a:solidFill>
          </a:ln>
        </p:spPr>
      </p:pic>
      <p:sp>
        <p:nvSpPr>
          <p:cNvPr id="33" name="TextBox 32">
            <a:extLst>
              <a:ext uri="{FF2B5EF4-FFF2-40B4-BE49-F238E27FC236}">
                <a16:creationId xmlns:a16="http://schemas.microsoft.com/office/drawing/2014/main" id="{8C555084-986F-50D5-D1D2-EA925C0837BE}"/>
              </a:ext>
            </a:extLst>
          </p:cNvPr>
          <p:cNvSpPr txBox="1"/>
          <p:nvPr/>
        </p:nvSpPr>
        <p:spPr>
          <a:xfrm>
            <a:off x="225346" y="112622"/>
            <a:ext cx="3433953" cy="630942"/>
          </a:xfrm>
          <a:prstGeom prst="rect">
            <a:avLst/>
          </a:prstGeom>
          <a:noFill/>
        </p:spPr>
        <p:txBody>
          <a:bodyPr wrap="none" rtlCol="0">
            <a:spAutoFit/>
          </a:bodyPr>
          <a:lstStyle/>
          <a:p>
            <a:pPr lvl="0" eaLnBrk="0" fontAlgn="base" hangingPunct="0">
              <a:spcBef>
                <a:spcPct val="0"/>
              </a:spcBef>
              <a:spcAft>
                <a:spcPct val="0"/>
              </a:spcAft>
              <a:buClrTx/>
            </a:pPr>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Business Insights </a:t>
            </a:r>
          </a:p>
        </p:txBody>
      </p:sp>
      <p:sp>
        <p:nvSpPr>
          <p:cNvPr id="2" name="Insight 1">
            <a:extLst>
              <a:ext uri="{FF2B5EF4-FFF2-40B4-BE49-F238E27FC236}">
                <a16:creationId xmlns:a16="http://schemas.microsoft.com/office/drawing/2014/main" id="{F0700E86-7F68-2DC7-0DE4-621CF323AE54}"/>
              </a:ext>
            </a:extLst>
          </p:cNvPr>
          <p:cNvSpPr txBox="1"/>
          <p:nvPr/>
        </p:nvSpPr>
        <p:spPr>
          <a:xfrm>
            <a:off x="357344" y="1230150"/>
            <a:ext cx="5144428" cy="307777"/>
          </a:xfrm>
          <a:prstGeom prst="rect">
            <a:avLst/>
          </a:prstGeom>
          <a:noFill/>
        </p:spPr>
        <p:txBody>
          <a:bodyPr wrap="square" rtlCol="0">
            <a:spAutoFit/>
          </a:bodyPr>
          <a:lstStyle/>
          <a:p>
            <a:r>
              <a:rPr lang="en-US" b="1" dirty="0"/>
              <a:t>1. China leads global EV adoption by a significant margin.</a:t>
            </a:r>
          </a:p>
        </p:txBody>
      </p:sp>
      <p:sp>
        <p:nvSpPr>
          <p:cNvPr id="11" name="Insight 2">
            <a:extLst>
              <a:ext uri="{FF2B5EF4-FFF2-40B4-BE49-F238E27FC236}">
                <a16:creationId xmlns:a16="http://schemas.microsoft.com/office/drawing/2014/main" id="{FD281FBA-E03F-FF08-776F-6DBA89D62558}"/>
              </a:ext>
            </a:extLst>
          </p:cNvPr>
          <p:cNvSpPr txBox="1"/>
          <p:nvPr/>
        </p:nvSpPr>
        <p:spPr>
          <a:xfrm>
            <a:off x="363573" y="1867447"/>
            <a:ext cx="6744564" cy="307777"/>
          </a:xfrm>
          <a:prstGeom prst="rect">
            <a:avLst/>
          </a:prstGeom>
          <a:noFill/>
        </p:spPr>
        <p:txBody>
          <a:bodyPr wrap="square" rtlCol="0">
            <a:spAutoFit/>
          </a:bodyPr>
          <a:lstStyle/>
          <a:p>
            <a:r>
              <a:rPr lang="en-US" b="1" dirty="0"/>
              <a:t>2. Passenger vehicles dominate EV adoption compared to freight transport.</a:t>
            </a:r>
          </a:p>
        </p:txBody>
      </p:sp>
      <p:sp>
        <p:nvSpPr>
          <p:cNvPr id="13" name="Insight 3">
            <a:extLst>
              <a:ext uri="{FF2B5EF4-FFF2-40B4-BE49-F238E27FC236}">
                <a16:creationId xmlns:a16="http://schemas.microsoft.com/office/drawing/2014/main" id="{D80CEDB3-1C0A-2E4E-1366-6C8832FC7D32}"/>
              </a:ext>
            </a:extLst>
          </p:cNvPr>
          <p:cNvSpPr txBox="1"/>
          <p:nvPr/>
        </p:nvSpPr>
        <p:spPr>
          <a:xfrm>
            <a:off x="357344" y="2504744"/>
            <a:ext cx="6603911" cy="307777"/>
          </a:xfrm>
          <a:prstGeom prst="rect">
            <a:avLst/>
          </a:prstGeom>
          <a:noFill/>
        </p:spPr>
        <p:txBody>
          <a:bodyPr wrap="square" rtlCol="0">
            <a:spAutoFit/>
          </a:bodyPr>
          <a:lstStyle/>
          <a:p>
            <a:r>
              <a:rPr lang="en-US" b="1" dirty="0"/>
              <a:t>3. BEVs (Battery Electric Vehicles) are the most widely adopted powertrain.</a:t>
            </a:r>
          </a:p>
        </p:txBody>
      </p:sp>
      <p:sp>
        <p:nvSpPr>
          <p:cNvPr id="14" name="Insight 4">
            <a:extLst>
              <a:ext uri="{FF2B5EF4-FFF2-40B4-BE49-F238E27FC236}">
                <a16:creationId xmlns:a16="http://schemas.microsoft.com/office/drawing/2014/main" id="{B757FA0D-075D-95B4-3F5A-892693F3ADEA}"/>
              </a:ext>
            </a:extLst>
          </p:cNvPr>
          <p:cNvSpPr txBox="1"/>
          <p:nvPr/>
        </p:nvSpPr>
        <p:spPr>
          <a:xfrm>
            <a:off x="387904" y="3142041"/>
            <a:ext cx="6436642" cy="307777"/>
          </a:xfrm>
          <a:prstGeom prst="rect">
            <a:avLst/>
          </a:prstGeom>
          <a:noFill/>
        </p:spPr>
        <p:txBody>
          <a:bodyPr wrap="square" rtlCol="0">
            <a:spAutoFit/>
          </a:bodyPr>
          <a:lstStyle/>
          <a:p>
            <a:r>
              <a:rPr lang="en-US" b="1" dirty="0"/>
              <a:t>4. Developed countries show faster and more consistent EV adoption.</a:t>
            </a:r>
          </a:p>
        </p:txBody>
      </p:sp>
      <p:sp>
        <p:nvSpPr>
          <p:cNvPr id="15" name="Insight 5">
            <a:extLst>
              <a:ext uri="{FF2B5EF4-FFF2-40B4-BE49-F238E27FC236}">
                <a16:creationId xmlns:a16="http://schemas.microsoft.com/office/drawing/2014/main" id="{249B05A5-880D-F861-FC49-7365F0470B39}"/>
              </a:ext>
            </a:extLst>
          </p:cNvPr>
          <p:cNvSpPr txBox="1"/>
          <p:nvPr/>
        </p:nvSpPr>
        <p:spPr>
          <a:xfrm>
            <a:off x="376319" y="3779338"/>
            <a:ext cx="6690731" cy="307777"/>
          </a:xfrm>
          <a:prstGeom prst="rect">
            <a:avLst/>
          </a:prstGeom>
          <a:noFill/>
        </p:spPr>
        <p:txBody>
          <a:bodyPr wrap="square" rtlCol="0">
            <a:spAutoFit/>
          </a:bodyPr>
          <a:lstStyle/>
          <a:p>
            <a:r>
              <a:rPr lang="en-US" b="1" dirty="0"/>
              <a:t>5. Charging infrastructure is expanding rapidly, enabling BEV growth.</a:t>
            </a:r>
          </a:p>
        </p:txBody>
      </p:sp>
      <p:sp>
        <p:nvSpPr>
          <p:cNvPr id="16" name="Insight 6">
            <a:extLst>
              <a:ext uri="{FF2B5EF4-FFF2-40B4-BE49-F238E27FC236}">
                <a16:creationId xmlns:a16="http://schemas.microsoft.com/office/drawing/2014/main" id="{861815C0-D53E-A409-D303-CC57B8454345}"/>
              </a:ext>
            </a:extLst>
          </p:cNvPr>
          <p:cNvSpPr txBox="1"/>
          <p:nvPr/>
        </p:nvSpPr>
        <p:spPr>
          <a:xfrm>
            <a:off x="419864" y="4416635"/>
            <a:ext cx="4418197" cy="307777"/>
          </a:xfrm>
          <a:prstGeom prst="rect">
            <a:avLst/>
          </a:prstGeom>
          <a:noFill/>
        </p:spPr>
        <p:txBody>
          <a:bodyPr wrap="none" rtlCol="0">
            <a:spAutoFit/>
          </a:bodyPr>
          <a:lstStyle/>
          <a:p>
            <a:r>
              <a:rPr lang="en-US" b="1" dirty="0"/>
              <a:t>6. EV stock show exponential growth after 2017.</a:t>
            </a:r>
          </a:p>
        </p:txBody>
      </p:sp>
      <p:sp>
        <p:nvSpPr>
          <p:cNvPr id="17" name="Insight 8">
            <a:extLst>
              <a:ext uri="{FF2B5EF4-FFF2-40B4-BE49-F238E27FC236}">
                <a16:creationId xmlns:a16="http://schemas.microsoft.com/office/drawing/2014/main" id="{C26B3C67-D234-A00B-F0A9-3F53C8F80D39}"/>
              </a:ext>
            </a:extLst>
          </p:cNvPr>
          <p:cNvSpPr txBox="1"/>
          <p:nvPr/>
        </p:nvSpPr>
        <p:spPr>
          <a:xfrm>
            <a:off x="419864" y="5053932"/>
            <a:ext cx="4285147" cy="307777"/>
          </a:xfrm>
          <a:prstGeom prst="rect">
            <a:avLst/>
          </a:prstGeom>
          <a:noFill/>
        </p:spPr>
        <p:txBody>
          <a:bodyPr wrap="none" rtlCol="0">
            <a:spAutoFit/>
          </a:bodyPr>
          <a:lstStyle/>
          <a:p>
            <a:r>
              <a:rPr lang="en-US" b="1" dirty="0"/>
              <a:t>7. Electricity demand from EVs is rising sharply.</a:t>
            </a:r>
          </a:p>
        </p:txBody>
      </p:sp>
      <p:sp>
        <p:nvSpPr>
          <p:cNvPr id="18" name="Insight 9">
            <a:extLst>
              <a:ext uri="{FF2B5EF4-FFF2-40B4-BE49-F238E27FC236}">
                <a16:creationId xmlns:a16="http://schemas.microsoft.com/office/drawing/2014/main" id="{71F72C05-7D53-A7EE-19D8-59DD73A9986F}"/>
              </a:ext>
            </a:extLst>
          </p:cNvPr>
          <p:cNvSpPr txBox="1"/>
          <p:nvPr/>
        </p:nvSpPr>
        <p:spPr>
          <a:xfrm>
            <a:off x="425230" y="5691229"/>
            <a:ext cx="6555000" cy="307777"/>
          </a:xfrm>
          <a:prstGeom prst="rect">
            <a:avLst/>
          </a:prstGeom>
          <a:noFill/>
        </p:spPr>
        <p:txBody>
          <a:bodyPr wrap="none" rtlCol="0">
            <a:spAutoFit/>
          </a:bodyPr>
          <a:lstStyle/>
          <a:p>
            <a:r>
              <a:rPr lang="en-US" b="1" dirty="0"/>
              <a:t>8. Vehicle mode and region combinations reveal large adoption disparities.</a:t>
            </a:r>
          </a:p>
        </p:txBody>
      </p:sp>
    </p:spTree>
    <p:extLst>
      <p:ext uri="{BB962C8B-B14F-4D97-AF65-F5344CB8AC3E}">
        <p14:creationId xmlns:p14="http://schemas.microsoft.com/office/powerpoint/2010/main" val="3288831456"/>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nextCondLst>
                <p:cond evt="onClick" delay="0">
                  <p:tgtEl>
                    <p:spTgt spid="2"/>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seq concurrent="1" nextAc="seek">
              <p:cTn id="12" restart="whenNotActive" fill="hold" evtFilter="cancelBubble" nodeType="interactiveSeq">
                <p:stCondLst>
                  <p:cond evt="onClick" delay="0">
                    <p:tgtEl>
                      <p:spTgt spid="13"/>
                    </p:tgtEl>
                  </p:cond>
                </p:stCondLst>
                <p:endSync evt="end" delay="0">
                  <p:rtn val="all"/>
                </p:endSync>
                <p:childTnLst>
                  <p:par>
                    <p:cTn id="13" fill="hold">
                      <p:stCondLst>
                        <p:cond delay="0"/>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nextCondLst>
                <p:cond evt="onClick" delay="0">
                  <p:tgtEl>
                    <p:spTgt spid="13"/>
                  </p:tgtEl>
                </p:cond>
              </p:nextCondLst>
            </p:seq>
            <p:seq concurrent="1" nextAc="seek">
              <p:cTn id="17" restart="whenNotActive" fill="hold" evtFilter="cancelBubble" nodeType="interactiveSeq">
                <p:stCondLst>
                  <p:cond evt="onClick" delay="0">
                    <p:tgtEl>
                      <p:spTgt spid="14"/>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childTnLst>
              </p:cTn>
              <p:nextCondLst>
                <p:cond evt="onClick" delay="0">
                  <p:tgtEl>
                    <p:spTgt spid="14"/>
                  </p:tgtEl>
                </p:cond>
              </p:nextCondLst>
            </p:seq>
            <p:seq concurrent="1" nextAc="seek">
              <p:cTn id="22" restart="whenNotActive" fill="hold" evtFilter="cancelBubble" nodeType="interactiveSeq">
                <p:stCondLst>
                  <p:cond evt="onClick" delay="0">
                    <p:tgtEl>
                      <p:spTgt spid="15"/>
                    </p:tgtEl>
                  </p:cond>
                </p:stCondLst>
                <p:endSync evt="end" delay="0">
                  <p:rtn val="all"/>
                </p:endSync>
                <p:childTnLst>
                  <p:par>
                    <p:cTn id="23" fill="hold">
                      <p:stCondLst>
                        <p:cond delay="0"/>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nextCondLst>
                <p:cond evt="onClick" delay="0">
                  <p:tgtEl>
                    <p:spTgt spid="15"/>
                  </p:tgtEl>
                </p:cond>
              </p:nextCondLst>
            </p:seq>
            <p:seq concurrent="1" nextAc="seek">
              <p:cTn id="27" restart="whenNotActive" fill="hold" evtFilter="cancelBubble" nodeType="interactiveSeq">
                <p:stCondLst>
                  <p:cond evt="onClick" delay="0">
                    <p:tgtEl>
                      <p:spTgt spid="16"/>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childTnLst>
              </p:cTn>
              <p:nextCondLst>
                <p:cond evt="onClick" delay="0">
                  <p:tgtEl>
                    <p:spTgt spid="16"/>
                  </p:tgtEl>
                </p:cond>
              </p:nextCondLst>
            </p:seq>
            <p:seq concurrent="1" nextAc="seek">
              <p:cTn id="32" restart="whenNotActive" fill="hold" evtFilter="cancelBubble" nodeType="interactiveSeq">
                <p:stCondLst>
                  <p:cond evt="onClick" delay="0">
                    <p:tgtEl>
                      <p:spTgt spid="17"/>
                    </p:tgtEl>
                  </p:cond>
                </p:stCondLst>
                <p:endSync evt="end" delay="0">
                  <p:rtn val="all"/>
                </p:endSync>
                <p:childTnLst>
                  <p:par>
                    <p:cTn id="33" fill="hold">
                      <p:stCondLst>
                        <p:cond delay="0"/>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childTnLst>
              </p:cTn>
              <p:nextCondLst>
                <p:cond evt="onClick" delay="0">
                  <p:tgtEl>
                    <p:spTgt spid="17"/>
                  </p:tgtEl>
                </p:cond>
              </p:nextCondLst>
            </p:seq>
            <p:seq concurrent="1" nextAc="seek">
              <p:cTn id="37" restart="whenNotActive" fill="hold" evtFilter="cancelBubble" nodeType="interactiveSeq">
                <p:stCondLst>
                  <p:cond evt="onClick" delay="0">
                    <p:tgtEl>
                      <p:spTgt spid="18"/>
                    </p:tgtEl>
                  </p:cond>
                </p:stCondLst>
                <p:endSync evt="end" delay="0">
                  <p:rtn val="all"/>
                </p:endSync>
                <p:childTnLst>
                  <p:par>
                    <p:cTn id="38" fill="hold">
                      <p:stCondLst>
                        <p:cond delay="0"/>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childTnLst>
                                </p:cTn>
                              </p:par>
                            </p:childTnLst>
                          </p:cTn>
                        </p:par>
                      </p:childTnLst>
                    </p:cTn>
                  </p:par>
                </p:childTnLst>
              </p:cTn>
              <p:nextCondLst>
                <p:cond evt="onClick" delay="0">
                  <p:tgtEl>
                    <p:spTgt spid="18"/>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5;p3">
            <a:extLst>
              <a:ext uri="{FF2B5EF4-FFF2-40B4-BE49-F238E27FC236}">
                <a16:creationId xmlns:a16="http://schemas.microsoft.com/office/drawing/2014/main" id="{42389F48-05F7-E5C4-4C94-56F9ABC7F299}"/>
              </a:ext>
            </a:extLst>
          </p:cNvPr>
          <p:cNvSpPr txBox="1"/>
          <p:nvPr/>
        </p:nvSpPr>
        <p:spPr>
          <a:xfrm>
            <a:off x="199056" y="253269"/>
            <a:ext cx="2265364" cy="646290"/>
          </a:xfrm>
          <a:prstGeom prst="rect">
            <a:avLst/>
          </a:prstGeom>
          <a:noFill/>
          <a:ln>
            <a:noFill/>
          </a:ln>
        </p:spPr>
        <p:txBody>
          <a:bodyPr spcFirstLastPara="1" wrap="square" lIns="91425" tIns="45700" rIns="91425" bIns="45700" anchor="t" anchorCtr="0">
            <a:spAutoFit/>
          </a:bodyPr>
          <a:lstStyle/>
          <a:p>
            <a:pPr lvl="0" eaLnBrk="0" fontAlgn="base" hangingPunct="0">
              <a:spcBef>
                <a:spcPct val="0"/>
              </a:spcBef>
              <a:spcAft>
                <a:spcPct val="0"/>
              </a:spcAft>
              <a:buClrTx/>
            </a:pPr>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Challenges </a:t>
            </a:r>
          </a:p>
        </p:txBody>
      </p:sp>
      <p:pic>
        <p:nvPicPr>
          <p:cNvPr id="5" name="Picture 4">
            <a:extLst>
              <a:ext uri="{FF2B5EF4-FFF2-40B4-BE49-F238E27FC236}">
                <a16:creationId xmlns:a16="http://schemas.microsoft.com/office/drawing/2014/main" id="{1B5379E7-6300-7A37-6F9F-2FDD08090F7A}"/>
              </a:ext>
            </a:extLst>
          </p:cNvPr>
          <p:cNvPicPr>
            <a:picLocks noChangeAspect="1"/>
          </p:cNvPicPr>
          <p:nvPr/>
        </p:nvPicPr>
        <p:blipFill>
          <a:blip r:embed="rId2"/>
          <a:stretch>
            <a:fillRect/>
          </a:stretch>
        </p:blipFill>
        <p:spPr>
          <a:xfrm>
            <a:off x="10884061" y="6156960"/>
            <a:ext cx="1307939" cy="111760"/>
          </a:xfrm>
          <a:prstGeom prst="rect">
            <a:avLst/>
          </a:prstGeom>
        </p:spPr>
      </p:pic>
      <p:pic>
        <p:nvPicPr>
          <p:cNvPr id="12" name="Picture 11">
            <a:extLst>
              <a:ext uri="{FF2B5EF4-FFF2-40B4-BE49-F238E27FC236}">
                <a16:creationId xmlns:a16="http://schemas.microsoft.com/office/drawing/2014/main" id="{6928E75E-9C9D-F4FD-4381-155894F62E46}"/>
              </a:ext>
            </a:extLst>
          </p:cNvPr>
          <p:cNvPicPr>
            <a:picLocks noChangeAspect="1"/>
          </p:cNvPicPr>
          <p:nvPr/>
        </p:nvPicPr>
        <p:blipFill>
          <a:blip r:embed="rId3"/>
          <a:stretch>
            <a:fillRect/>
          </a:stretch>
        </p:blipFill>
        <p:spPr>
          <a:xfrm>
            <a:off x="9994980" y="6086951"/>
            <a:ext cx="1543050" cy="251778"/>
          </a:xfrm>
          <a:prstGeom prst="rect">
            <a:avLst/>
          </a:prstGeom>
        </p:spPr>
      </p:pic>
      <p:sp>
        <p:nvSpPr>
          <p:cNvPr id="2" name="TextBox 1">
            <a:extLst>
              <a:ext uri="{FF2B5EF4-FFF2-40B4-BE49-F238E27FC236}">
                <a16:creationId xmlns:a16="http://schemas.microsoft.com/office/drawing/2014/main" id="{BA82809F-1E43-E494-F46F-6F79EA7356B3}"/>
              </a:ext>
            </a:extLst>
          </p:cNvPr>
          <p:cNvSpPr txBox="1"/>
          <p:nvPr/>
        </p:nvSpPr>
        <p:spPr>
          <a:xfrm>
            <a:off x="814038" y="1420758"/>
            <a:ext cx="10961650" cy="4016484"/>
          </a:xfrm>
          <a:prstGeom prst="rect">
            <a:avLst/>
          </a:prstGeom>
          <a:noFill/>
        </p:spPr>
        <p:txBody>
          <a:bodyPr wrap="square" rtlCol="0">
            <a:spAutoFit/>
          </a:bodyPr>
          <a:lstStyle/>
          <a:p>
            <a:r>
              <a:rPr lang="en-US" sz="1500" b="1" dirty="0"/>
              <a:t>1. Limited Dataset Coverage</a:t>
            </a:r>
          </a:p>
          <a:p>
            <a:r>
              <a:rPr lang="en-US" sz="1500" dirty="0"/>
              <a:t>The dataset lacked complete information for many countries and modes, limiting deeper regional analysis.</a:t>
            </a:r>
          </a:p>
          <a:p>
            <a:endParaRPr lang="en-US" sz="1500" dirty="0"/>
          </a:p>
          <a:p>
            <a:r>
              <a:rPr lang="en-US" sz="1500" b="1" dirty="0"/>
              <a:t>2. Skewed Distribution Across Regions</a:t>
            </a:r>
          </a:p>
          <a:p>
            <a:r>
              <a:rPr lang="en-US" sz="1500" dirty="0"/>
              <a:t>Some regions (like China and Europe) had very high data volume, while others had minimal values, making comparisons uneven.</a:t>
            </a:r>
          </a:p>
          <a:p>
            <a:endParaRPr lang="en-US" sz="1500" dirty="0"/>
          </a:p>
          <a:p>
            <a:r>
              <a:rPr lang="en-US" sz="1500" b="1" dirty="0"/>
              <a:t>3. Lack of Granular Data</a:t>
            </a:r>
          </a:p>
          <a:p>
            <a:r>
              <a:rPr lang="en-US" sz="1500" dirty="0"/>
              <a:t>Only yearly values were available, restricting detailed time-series analysis and short-term trend identification.</a:t>
            </a:r>
          </a:p>
          <a:p>
            <a:endParaRPr lang="en-US" sz="1500" dirty="0"/>
          </a:p>
          <a:p>
            <a:r>
              <a:rPr lang="en-US" sz="1500" b="1" dirty="0"/>
              <a:t>4. Multiple Units and Parameters</a:t>
            </a:r>
          </a:p>
          <a:p>
            <a:r>
              <a:rPr lang="en-US" sz="1500" dirty="0"/>
              <a:t>A single dataset contained inconsistent measurement units and varied EV metrics, complicating visual creation and interpretation.</a:t>
            </a:r>
          </a:p>
          <a:p>
            <a:endParaRPr lang="en-US" sz="1500" dirty="0"/>
          </a:p>
          <a:p>
            <a:r>
              <a:rPr lang="en-US" sz="1500" b="1" dirty="0"/>
              <a:t>5. Parameters with Same Units but Different Meaning</a:t>
            </a:r>
          </a:p>
          <a:p>
            <a:r>
              <a:rPr lang="en-US" sz="1500" dirty="0"/>
              <a:t>Metrics like EV stock and EV sales both used “vehicles” but represented different concepts, increasing the risk of misinterpretation.</a:t>
            </a:r>
          </a:p>
        </p:txBody>
      </p:sp>
    </p:spTree>
    <p:extLst>
      <p:ext uri="{BB962C8B-B14F-4D97-AF65-F5344CB8AC3E}">
        <p14:creationId xmlns:p14="http://schemas.microsoft.com/office/powerpoint/2010/main" val="254091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a:extLst>
              <a:ext uri="{FF2B5EF4-FFF2-40B4-BE49-F238E27FC236}">
                <a16:creationId xmlns:a16="http://schemas.microsoft.com/office/drawing/2014/main" id="{EC07D3AD-98B6-033D-3392-EB6EE81FC60D}"/>
              </a:ext>
            </a:extLst>
          </p:cNvPr>
          <p:cNvSpPr txBox="1"/>
          <p:nvPr/>
        </p:nvSpPr>
        <p:spPr>
          <a:xfrm>
            <a:off x="336939" y="125097"/>
            <a:ext cx="2215671" cy="630942"/>
          </a:xfrm>
          <a:prstGeom prst="rect">
            <a:avLst/>
          </a:prstGeom>
          <a:noFill/>
        </p:spPr>
        <p:txBody>
          <a:bodyPr wrap="none" rtlCol="0">
            <a:spAutoFit/>
          </a:bodyPr>
          <a:lstStyle/>
          <a:p>
            <a:pPr lvl="0" eaLnBrk="0" fontAlgn="base" hangingPunct="0">
              <a:spcBef>
                <a:spcPct val="0"/>
              </a:spcBef>
              <a:spcAft>
                <a:spcPct val="0"/>
              </a:spcAft>
              <a:buClrTx/>
            </a:pPr>
            <a:r>
              <a:rPr lang="en-US" altLang="en-US" sz="3500" b="1">
                <a:solidFill>
                  <a:srgbClr val="FF0000"/>
                </a:solidFill>
                <a:latin typeface="Calibri" panose="020F0502020204030204" pitchFamily="34" charset="0"/>
                <a:ea typeface="Calibri" panose="020F0502020204030204" pitchFamily="34" charset="0"/>
                <a:cs typeface="Calibri" panose="020F0502020204030204" pitchFamily="34" charset="0"/>
              </a:rPr>
              <a:t>Conclusion</a:t>
            </a:r>
            <a:endPar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D301FFD5-6B64-1F24-8757-8484A565A7EA}"/>
              </a:ext>
            </a:extLst>
          </p:cNvPr>
          <p:cNvSpPr txBox="1"/>
          <p:nvPr/>
        </p:nvSpPr>
        <p:spPr>
          <a:xfrm>
            <a:off x="970156" y="1182028"/>
            <a:ext cx="10638264" cy="1015663"/>
          </a:xfrm>
          <a:prstGeom prst="rect">
            <a:avLst/>
          </a:prstGeom>
          <a:noFill/>
        </p:spPr>
        <p:txBody>
          <a:bodyPr wrap="square" rtlCol="0">
            <a:spAutoFit/>
          </a:bodyPr>
          <a:lstStyle/>
          <a:p>
            <a:r>
              <a:rPr lang="en-US" sz="1500" dirty="0"/>
              <a:t>Global EV adoption is rising rapidly, led by China, Europe, and the USA. Passenger cars and BEVs dominate growth, while commercial and freight electrification still lags behind. Developed countries show faster EV penetration due to strong policies and infrastructure support. EV stock, sales, and electricity demand have shown sharp upward trends after 2017, although adoption remains uneven across regions and vehicle modes.</a:t>
            </a:r>
            <a:endParaRPr lang="en-IN" sz="1500" dirty="0"/>
          </a:p>
        </p:txBody>
      </p:sp>
      <p:sp>
        <p:nvSpPr>
          <p:cNvPr id="3" name="TextBox 2">
            <a:extLst>
              <a:ext uri="{FF2B5EF4-FFF2-40B4-BE49-F238E27FC236}">
                <a16:creationId xmlns:a16="http://schemas.microsoft.com/office/drawing/2014/main" id="{AE47AB49-9F21-C285-D0F2-F6C670F4B0A9}"/>
              </a:ext>
            </a:extLst>
          </p:cNvPr>
          <p:cNvSpPr txBox="1"/>
          <p:nvPr/>
        </p:nvSpPr>
        <p:spPr>
          <a:xfrm>
            <a:off x="970157" y="3791414"/>
            <a:ext cx="10638263" cy="1015663"/>
          </a:xfrm>
          <a:prstGeom prst="rect">
            <a:avLst/>
          </a:prstGeom>
          <a:noFill/>
        </p:spPr>
        <p:txBody>
          <a:bodyPr wrap="square" rtlCol="0">
            <a:spAutoFit/>
          </a:bodyPr>
          <a:lstStyle/>
          <a:p>
            <a:r>
              <a:rPr lang="en-US" sz="1500" dirty="0"/>
              <a:t>To accelerate EV adoption, focus should be placed on electrifying commercial vehicles, expanding charging infrastructure—especially in developing regions—and strengthening policy support. Increasing renewable energy capacity is essential to meet rising electricity demand. Region-specific strategies, improved affordability, and continuous monitoring of EV trends will further support a smooth and sustainable transition to electric mobility.</a:t>
            </a:r>
            <a:endParaRPr lang="en-IN" sz="1500" dirty="0"/>
          </a:p>
        </p:txBody>
      </p:sp>
      <p:sp>
        <p:nvSpPr>
          <p:cNvPr id="4" name="TextBox 3">
            <a:extLst>
              <a:ext uri="{FF2B5EF4-FFF2-40B4-BE49-F238E27FC236}">
                <a16:creationId xmlns:a16="http://schemas.microsoft.com/office/drawing/2014/main" id="{CD6F1F0F-4534-D9C1-A7EB-95E57834E685}"/>
              </a:ext>
            </a:extLst>
          </p:cNvPr>
          <p:cNvSpPr txBox="1"/>
          <p:nvPr/>
        </p:nvSpPr>
        <p:spPr>
          <a:xfrm>
            <a:off x="336939" y="2606149"/>
            <a:ext cx="2396810" cy="630942"/>
          </a:xfrm>
          <a:prstGeom prst="rect">
            <a:avLst/>
          </a:prstGeom>
          <a:noFill/>
        </p:spPr>
        <p:txBody>
          <a:bodyPr wrap="none" rtlCol="0">
            <a:spAutoFit/>
          </a:bodyPr>
          <a:lstStyle/>
          <a:p>
            <a:pPr lvl="0" eaLnBrk="0" fontAlgn="base" hangingPunct="0">
              <a:spcBef>
                <a:spcPct val="0"/>
              </a:spcBef>
              <a:spcAft>
                <a:spcPct val="0"/>
              </a:spcAft>
              <a:buClrTx/>
            </a:pPr>
            <a:r>
              <a:rPr lang="en-US" altLang="en-US" sz="3500" b="1" dirty="0">
                <a:solidFill>
                  <a:srgbClr val="FF0000"/>
                </a:solidFill>
                <a:latin typeface="Calibri" panose="020F0502020204030204" pitchFamily="34" charset="0"/>
                <a:ea typeface="Calibri" panose="020F0502020204030204" pitchFamily="34" charset="0"/>
                <a:cs typeface="Calibri" panose="020F0502020204030204" pitchFamily="34" charset="0"/>
              </a:rPr>
              <a:t>Suggestions</a:t>
            </a:r>
          </a:p>
        </p:txBody>
      </p:sp>
    </p:spTree>
    <p:extLst>
      <p:ext uri="{BB962C8B-B14F-4D97-AF65-F5344CB8AC3E}">
        <p14:creationId xmlns:p14="http://schemas.microsoft.com/office/powerpoint/2010/main" val="2344297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hand holding a light bulb and a question mark&#10;&#10;AI-generated content may be incorrect.">
            <a:extLst>
              <a:ext uri="{FF2B5EF4-FFF2-40B4-BE49-F238E27FC236}">
                <a16:creationId xmlns:a16="http://schemas.microsoft.com/office/drawing/2014/main" id="{42227E24-C60D-7BF2-1204-1593DCC8F975}"/>
              </a:ext>
            </a:extLst>
          </p:cNvPr>
          <p:cNvPicPr>
            <a:picLocks noChangeAspect="1"/>
          </p:cNvPicPr>
          <p:nvPr/>
        </p:nvPicPr>
        <p:blipFill>
          <a:blip r:embed="rId2"/>
          <a:stretch>
            <a:fillRect/>
          </a:stretch>
        </p:blipFill>
        <p:spPr>
          <a:xfrm>
            <a:off x="1844310" y="981947"/>
            <a:ext cx="8069124" cy="4612827"/>
          </a:xfrm>
          <a:prstGeom prst="rect">
            <a:avLst/>
          </a:prstGeom>
        </p:spPr>
      </p:pic>
    </p:spTree>
    <p:extLst>
      <p:ext uri="{BB962C8B-B14F-4D97-AF65-F5344CB8AC3E}">
        <p14:creationId xmlns:p14="http://schemas.microsoft.com/office/powerpoint/2010/main" val="3123100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599" y="2997200"/>
            <a:ext cx="4590143"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Calibri" panose="020F0502020204030204" pitchFamily="34" charset="0"/>
                <a:cs typeface="Calibri" panose="020F0502020204030204" pitchFamily="34" charset="0"/>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cae5e63c-03e2-4566-ac23-6e97fa729114}">
  <we:reference id="WA200003233" version="2.0.0.3" store="en-GB" storeType="OMEX"/>
  <we:alternateReferences/>
  <we:properties>
    <we:property name="Microsoft.Office.CampaignId" value="&quot;none&quot;"/>
    <we:property name="artifactViewState" value="&quot;live&quot;"/>
    <we:property name="backgroundColor" value="&quot;#F4F4F6&quot;"/>
    <we:property name="bookmark" value="&quot;H4sIAAAAAAAAA+1bW3PbthL+Kxq+pJ3RnMGVAPwWO+5lpifHrTPudDp+WAALmQ1N6pCUEzWj/17wIsd2JMuNHUXO6EkiAS12F99+uwtSHxKf1dMc5q/hEpOD5LAs315C9XbEk3FS9PeE4EJQT5hNpeWMCx9UHC2nTVYWdXLwIWmgmmBzltUzyFtB8eaf5+ME8vwEJu1VgLzGcTLFqi4LyLO/sZ8ch5pqhotxgu+neVlBK/K0gQZbsVdxeryOKtD/tPqAa7IrPEXXDHeFZxoVAWo5d1E7YmScVvcTOs1WTmlFd8sflUUDWRGXae9pTUiKQUhNGbFMOjRpez9keTNMsfPj99MqWhdtnk9b57z0V1A49ElnQoV1r/GH5L8I9azq7Di+NXBaziqHv2Hohooma+ZRzjC9Hn3Hvk8W0SEnVRnd1Y29KRvIR8dno1PIozfb0Yvy3VGF0U8+OSCL83inzopJPrj1o4Vvei0dVK2Gpf0r+qa1ZNEKQWmUwlSlSiIT0pLWjl0w+A+EavQuay5GP2WTC6yb0RnkM3w6y6VGtIJZa1OlpKWKWb4Tlr8pp6OT8l28qiIwR9/Z+ei0Kd3b75/OdmtkUKmRnlov0BHBAHfG9gjy33DSingyew0oIamM8SxkNFU5QsWO2LsM63aHn85gRwL4FJUklIAUijrl1hs8kLxTYB3XKRWowCOkTLYkP7jjKKo0KavMRSXGg6BWztmSodk4+aEqLzuJQyrJ4sxrP/x8/HL0Y17a3uBX0MCIESbilN6UaOw4+f0CW89GEZGYfdYMnv25uO3tepiSzy6LDfvQX3TK3HH+FKqoZmvGol2645dWcJT8SxZv997uaecgeRGVrttdetFOP49uPl/cRcaDFNrokHvUvA0PuhhvRusX0Wke2XkFWh+gzsvJpMIJLDf2+MvrenWdN36YFUPdQD4j0iDOPbqAqrkdbvGi8lgdzjtIvsqqZW0S4+F4N01v0d4XUnHuXzdKpSHG5w+Prs8EznnHUtQCOKW1MZKA4TEPwT3V1sBSABiUCMYKZ5yXjhEO3zRLXZcCD6Opw+OzjqHGa8ZPfhombJPCbtqwgjSWXYayFIPjUlKUApArIr/prd0noH0CengCymObuk9AT5mAbABqrRSUxAZYg3baqo19QexRXj+YgOqZ/f8Mo0F39+J0ORC//7r88rRUdop5dO1TEFU19GPjpTIhw9wn7SL/2xr21qt3D8riZiUHstvs3jOs5YhnkR2WTu/MAJvj+t9eo2yx2F5aqNY16R8TupdBgRMKLZNcKUG5wX1Cv5XQ2+O8Z5bQd+tYs3PQo9Lil7TnK2a6j/zR5zrrUSlGrKeacyOspvfkuiGA43yGFiyLPyFSc+uIWxfAe+CurkS37qXL0n/WObkvi1nzzArMG0noY+6XXzXuBvf3UUe8FCzVVDpDBVEgtbMbow6dCNwJIghR3hAOXJDnG3X7/u+J+j+Xz+q4C+iPHp/zdsYLu9IKSoIuxBDVQhnlOSiizMZApczIACnVnlLF0VjJ2T5Q/12gbt9LGw4jv10CefQTjCcsoG484e76oZGdj/7osbIrlOBTHowJMQkTTAk3UqrNL4NsHc6zImueC5BvE9Stgu1fg7mpEC9hehfKK4HzY1XOpl8ONcMW9KjhEoznwTGpNbiUEoKkFXq/Mfi+seX7Tx/kC65FMEEpaSQxmqKimx+RBaElGqRt3yYJcVZI/TXT0sMId+t63XeA9azeAbmYFT6WhScYVy6a0wbcW/SHUK3k+t04jUiDp8gCsUqLNkq40ZtP3nesctkGOB4Di7XPi3YhuRqhXeSzIISikaVYcEJvpMnsEib4KUkGhUgAIFUMvYrsy8MjXuXbJpg27mGdZy6my5smJ5dYTTpw+bhaZ9K0XyjDfrw9gIif2Fm8+uj5VfyFL98VL5aPDNbB4voMexugCAwxSG+DM0Yy46hTsHsV19q8sd/NOyzveKyGJAMvkQYGyqVm89vFu1Wf7Pf09gtIfZwS7kD5yNsaDPEuGKV3b1/dMqPtd/Ve5wzdrjGpJg4o85Zylwom/MaEDJ3Ch7OmiSp9kpeZlJq5SOOUBm2phMDMRpH1BUxX5HjmmBGKEJJyHTjwQIJ9pHoiaMO0NqAtR8ZFbLLCRpHTWIG8hqss9s1ldVdmJ3YVYspZU0/B4QkUuAI5ETFQ+P6fF/egp/sLzTVwFot/AL/rADS6MwAA&quot;"/>
    <we:property name="creatorSessionId" value="&quot;f04c0bcc-d90d-49fb-af46-b74785188a74&quot;"/>
    <we:property name="creatorTenantId" value="&quot;58227ec7-3bc0-48bb-ad87-42b8957dd8c6&quot;"/>
    <we:property name="creatorUserId" value="&quot;100320055685C61A&quot;"/>
    <we:property name="datasetId" value="&quot;85d3f8d1-ff72-4230-9812-cc8ed0085983&quot;"/>
    <we:property name="embedUrl" value="&quot;/reportEmbed?reportId=538ff428-2c36-45eb-80f3-1f722c7e18fa&amp;config=eyJjbHVzdGVyVXJsIjoiaHR0cHM6Ly9XQUJJLUlORElBLUNFTlRSQUwtQS1QUklNQVJZLXJlZGlyZWN0LmFuYWx5c2lzLndpbmRvd3MubmV0IiwiZW1iZWRGZWF0dXJlcyI6eyJ1c2FnZU1ldHJpY3NWTmV4dCI6dHJ1ZX19&amp;disableSensitivityBanner=true&amp;storytellingChangeViewModeShortcutKeys=true&quot;"/>
    <we:property name="initialStateBookmark" value="&quot;H4sIAAAAAAAAA+1bW2/buBL+K4Ze2gWMBUmRIpm3JM1esKdtTlNksVgEB0Ny6GirSF5JTust/N8PdXGapL5kG9d1Cj8loqjhXL75ZkjJHyOXVuMMpq/gCqOD6Kgo3l1B+W4QR8Mo78dev/7t5eGb3/736vDlSRguxnVa5FV08DGqoRxhfZ5WE8gaCWHwz4thBFl2CqPmykNW4TAaY1kVOWTpP9hNDrfqcoKzYYQfxllRQiPyrIYaG7HXYXq4DmvTHxtFwNbpNZ6hrftR7phCSYCaOLYmEUSLMK3qJrSaLZzSiG6XPy7yGtI8LNOMKUVIgp4LRRkxTFjUSTPu06zup5jpyYdxGawLNk/HjVcO3TXkFl3UmlBi1Wn8MXqJUE3K1o6TOzfOiklp8Q369lZep/U0yOmnV4Pn7IdoFhxyWhbBXe29t0UN2eDkfHAGWfBmc/eyeH9cYvCTiw7I7CKMVGk+ynq3frLwbaelhbLRsDB/Bd80lswaISi0lJjIRApkXBjS2LELBv+BUA7ep/Xl4Jd0dIlVPTiHbIKbs1woRMOZMSaRUhgqmYl3wvK3xXhwWrwPV2UA5uC5mQ7O6sK++2FzthstvEy0cNQ4jpZwBrgztgeQv8FRI2Jj9mqQXFAR8pmLYKq0hPIdsXee1k2EN2ewJR5cglIQSkBwSa20yw3u2d1KMDZWCeUowSEkTMggunfHcVBpVJSpDUoMe0GNnPM5Q7Nh9FNZXLUS+xqShpk3fvj15HDwc1aYzuAXUMOAEcbDlM6UYOww+v0SG88GEYGYXVr3nv01v+vtqp+STa7yNXHoLlpl7jl/DGVQszFj1izd8ksjOEj+TxqGO293tHMQPQtKV02UnjXTL4KbL2b3kfEghdY6ZIWad+FBZ8P1aP0qOk0DOy9A6wPUORyNShzBPLAnX1/X65u68dMk7/sG8gWZBmHu8SWU9d10Cxelw/Jo2kLyRVrOe5OQDye7aXqD9q6RCnP/utUq9Tk+fXh2fSFwLlqWogbASqW0FgR0HOoQrOi2epYCQC+514ZbbZ2wjMTwXbPUTSvwMJo6OjlvGWq45P7pL/2EbVLYbRsWkEYfWi4NRW9jISgKDhhLIr7r0O4L0L4APbwAZWGbui9AmyxAxgM1RnBKwgZYgbLKyLX7grBHefVgAqom5u8JBoPux+JsfiP8/9/5P5ulsjPMgms3QVRlvx8bzpXxKWYuahZ5vTXsLVdvBcpCsKID0Qa78wxrOOJJVIe501szwGS4/NkblM1m2ysL5bJN+qeC7oSXYLlEw0QsJaexxn1Bv1PQm+O8J1bQd+tYs3XQo8ri17TnG1a6T/zR1TrjUEpGjKMqjjU3iq6odX0Ch/kMDRgWHiFCxcYSuyyB98Bd3Ilu3UtXhfuic3JX5JP6iTWYt4rQp9ovvmne9e7vso44wVmiqLCaciJBKGvWZh1a7mPLCSdEOk1iiDl5ulm33/9taP9ns0kVooDu+PE1b2e8sCtbQUHQ+pCiikstXQySSL02USnTwkNClaNUxqiNiNk+Uf9dom7fS2sOI79fAnn0G4wNNlC33nC3+6GBmQ7+6LCyK5Tgkthr7UMRJpiQWAsh138MsnU4T/K0fipAvktQdxq2fw3mukS8gvF9KC8Ezs9lMRl/PdT0IehQEwvQLvaWCaXAJpQQJI3Q1cbgh9oUHz5/kc9jxb32UgotiFYUJV3/isxzJVAjbfZtghBruFDfsiw9jHC3rteqA6wn9Q3I5SR3oS08xbByXp/VYN+hO4JyIdfvxmlE4h1F5omRijdZEmu1/uR9xzqXbYDjMbBY+r5oF4qr5soGPvOcSxpYinnL1VqaTK9ghJ+TpJeIBAASydDJwL6xf8SnfNsE09oYVllqQ7m8bXJ0heWoBZcLq7UmjbuFUuzuNwcQ4S+2Fi8+en4RnnDF+/zZ/JXBMljcnGFvAxSeIXrhjLdaC6YttRJ2r+NaWjf20bzH8jYO3ZBg4ARSz0DaRK//uni3+pN9TO9+gNTlKYktSBd4W4Emznot1e7F1c4r2j6qK53T73a1ThSxQJkzNLYJZ9ytLcjQKnw0qeug0md1mQmhmA00TqlXhgrwTK8VWV3CeEGNZ5ZpLgkhSax8DLEn3jxSPe6VZkppUCZGFvOwyfJrRY5DB/IKrtOwby7K+zJbsYsQU0zqagwWTyHHBcgJiIHcdb+8WIGe9ic0UbtI0CntPwlY8UDzw5oboM1m/wdvfnmf4zMAAA==&quot;"/>
    <we:property name="isFiltersActionButtonVisible" value="true"/>
    <we:property name="isVisualContainerHeaderHidden" value="false"/>
    <we:property name="pageDisplayName" value="&quot;Dashboard&quot;"/>
    <we:property name="pageName" value="&quot;14d28e70a1b33cb65095&quot;"/>
    <we:property name="reportEmbeddedTime" value="&quot;2025-12-12T10:07:19.149Z&quot;"/>
    <we:property name="reportName" value="&quot;Global EV Sales 2010 - 2024&quot;"/>
    <we:property name="reportState" value="&quot;CONNECTED&quot;"/>
    <we:property name="reportUrl" value="&quot;/groups/me/reports/538ff428-2c36-45eb-80f3-1f722c7e18fa/14d28e70a1b33cb65095?bookmarkGuid=a43ab4dd-1a2d-43c1-9b78-cee9b149fad1&amp;bookmarkUsage=1&amp;ctid=58227ec7-3bc0-48bb-ad87-42b8957dd8c6&amp;fromEntryPoint=export&amp;pbi_source=storytelling_addin&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3411</TotalTime>
  <Words>983</Words>
  <Application>Microsoft Office PowerPoint</Application>
  <PresentationFormat>Widescreen</PresentationFormat>
  <Paragraphs>128</Paragraphs>
  <Slides>13</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Libre Baskerville</vt:lpstr>
      <vt:lpstr>Lato Black</vt:lpstr>
      <vt:lpstr>Aptos Display</vt:lpstr>
      <vt:lpstr>Wingdings</vt:lpstr>
      <vt:lpstr>Calibri</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Annonymus M</cp:lastModifiedBy>
  <cp:revision>56</cp:revision>
  <dcterms:created xsi:type="dcterms:W3CDTF">2021-02-16T05:19:01Z</dcterms:created>
  <dcterms:modified xsi:type="dcterms:W3CDTF">2025-12-12T18:18:15Z</dcterms:modified>
</cp:coreProperties>
</file>